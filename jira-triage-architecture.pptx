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334500" cy="22755225"/>
  <p:notesSz cx="2275522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1f544be-1441-4319-8e40-69bf5d3147b0.claudeusercontent.com/v1/design/projects/c1f544be-1441-4319-8e40-69bf5d3147b0/serve/Jira%20Triage%20Architecture.dc.html" TargetMode="External"/><Relationship Id="rId1" Type="http://schemas.openxmlformats.org/officeDocument/2006/relationships/image" Target="../media/image-1-1.png"/><Relationship Id="rId2" Type="http://schemas.openxmlformats.org/officeDocument/2006/relationships/image" Target="../media/image-1-2.sv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334500" cy="22751258"/>
          </a:xfrm>
          <a:prstGeom prst="roundRect">
            <a:avLst>
              <a:gd name="adj" fmla="val 612"/>
            </a:avLst>
          </a:prstGeom>
          <a:ln w="6350">
            <a:solidFill>
              <a:srgbClr val="DFE3E8"/>
            </a:solidFill>
            <a:prstDash val="solid"/>
          </a:ln>
        </p:spPr>
      </p:sp>
      <p:sp>
        <p:nvSpPr>
          <p:cNvPr id="3" name="Text 1"/>
          <p:cNvSpPr/>
          <p:nvPr/>
        </p:nvSpPr>
        <p:spPr>
          <a:xfrm>
            <a:off x="692150" y="539750"/>
            <a:ext cx="8745220" cy="184150"/>
          </a:xfrm>
          <a:prstGeom prst="rect">
            <a:avLst/>
          </a:prstGeom>
          <a:noFill/>
          <a:ln/>
        </p:spPr>
        <p:txBody>
          <a:bodyPr wrap="square" lIns="25400" tIns="25400" rIns="25400" bIns="25400" rtlCol="0" anchor="t">
            <a:normAutofit/>
          </a:bodyPr>
          <a:lstStyle/>
          <a:p>
            <a:pPr algn="l" indent="0" marL="0">
              <a:buNone/>
            </a:pPr>
            <a:r>
              <a:rPr lang="en-US" sz="975" dirty="0">
                <a:solidFill>
                  <a:srgbClr val="6B7480"/>
                </a:solidFill>
                <a:latin typeface="Helvetica" pitchFamily="34" charset="0"/>
                <a:ea typeface="Helvetica" pitchFamily="34" charset="-122"/>
                <a:cs typeface="Helvetica" pitchFamily="34" charset="-120"/>
              </a:rPr>
              <a:t>Engineering / Tools / </a:t>
            </a:r>
            <a:pPr algn="l" indent="0" marL="0">
              <a:buNone/>
            </a:pPr>
            <a:r>
              <a:rPr lang="en-US" sz="975" b="1" dirty="0">
                <a:solidFill>
                  <a:srgbClr val="3A4450"/>
                </a:solidFill>
                <a:latin typeface="Helvetica" pitchFamily="34" charset="0"/>
                <a:ea typeface="Helvetica" pitchFamily="34" charset="-122"/>
                <a:cs typeface="Helvetica" pitchFamily="34" charset="-120"/>
              </a:rPr>
              <a:t>jira-triage</a:t>
            </a:r>
            <a:endParaRPr lang="en-US" sz="975" dirty="0"/>
          </a:p>
        </p:txBody>
      </p:sp>
      <p:sp>
        <p:nvSpPr>
          <p:cNvPr id="4" name="Text 2"/>
          <p:cNvSpPr/>
          <p:nvPr/>
        </p:nvSpPr>
        <p:spPr>
          <a:xfrm>
            <a:off x="692150" y="781050"/>
            <a:ext cx="8745220" cy="387350"/>
          </a:xfrm>
          <a:prstGeom prst="rect">
            <a:avLst/>
          </a:prstGeom>
          <a:noFill/>
          <a:ln/>
        </p:spPr>
        <p:txBody>
          <a:bodyPr wrap="square" lIns="25400" tIns="25400" rIns="25400" bIns="25400" rtlCol="0" anchor="t">
            <a:normAutofit/>
          </a:bodyPr>
          <a:lstStyle/>
          <a:p>
            <a:pPr algn="l" indent="0" marL="0">
              <a:buNone/>
            </a:pPr>
            <a:r>
              <a:rPr lang="en-US" sz="2400" b="1" spc="-24" kern="0" dirty="0">
                <a:solidFill>
                  <a:srgbClr val="22272E"/>
                </a:solidFill>
                <a:latin typeface="Helvetica" pitchFamily="34" charset="0"/>
                <a:ea typeface="Helvetica" pitchFamily="34" charset="-122"/>
                <a:cs typeface="Helvetica" pitchFamily="34" charset="-120"/>
              </a:rPr>
              <a:t>Jira Defect Triage — Architecture Overview</a:t>
            </a:r>
            <a:endParaRPr lang="en-US" sz="2400" dirty="0"/>
          </a:p>
        </p:txBody>
      </p:sp>
      <p:sp>
        <p:nvSpPr>
          <p:cNvPr id="5" name="Text 3"/>
          <p:cNvSpPr/>
          <p:nvPr/>
        </p:nvSpPr>
        <p:spPr>
          <a:xfrm>
            <a:off x="692150" y="1206500"/>
            <a:ext cx="8745220" cy="203200"/>
          </a:xfrm>
          <a:prstGeom prst="rect">
            <a:avLst/>
          </a:prstGeom>
          <a:noFill/>
          <a:ln/>
        </p:spPr>
        <p:txBody>
          <a:bodyPr wrap="square" lIns="25400" tIns="25400" rIns="25400" bIns="25400" rtlCol="0" anchor="t">
            <a:normAutofit/>
          </a:bodyPr>
          <a:lstStyle/>
          <a:p>
            <a:pPr algn="l" indent="0" marL="0">
              <a:buNone/>
            </a:pPr>
            <a:r>
              <a:rPr lang="en-US" sz="1125" dirty="0">
                <a:solidFill>
                  <a:srgbClr val="5B6673"/>
                </a:solidFill>
                <a:latin typeface="Helvetica" pitchFamily="34" charset="0"/>
                <a:ea typeface="Helvetica" pitchFamily="34" charset="-122"/>
                <a:cs typeface="Helvetica" pitchFamily="34" charset="-120"/>
              </a:rPr>
              <a:t>Automated triage of new and updated Jira defects: duplicate detection, root-cause analysis, and write-back to Jira.</a:t>
            </a:r>
            <a:endParaRPr lang="en-US" sz="1125" dirty="0"/>
          </a:p>
        </p:txBody>
      </p:sp>
      <p:sp>
        <p:nvSpPr>
          <p:cNvPr id="6" name="Text 4"/>
          <p:cNvSpPr/>
          <p:nvPr/>
        </p:nvSpPr>
        <p:spPr>
          <a:xfrm>
            <a:off x="692150" y="1638300"/>
            <a:ext cx="8188706" cy="1012428"/>
          </a:xfrm>
          <a:prstGeom prst="rect">
            <a:avLst/>
          </a:prstGeom>
          <a:noFill/>
          <a:ln/>
        </p:spPr>
        <p:txBody>
          <a:bodyPr wrap="square" lIns="25400" tIns="25400" rIns="25400" bIns="25400" rtlCol="0" anchor="t">
            <a:normAutofit/>
          </a:bodyPr>
          <a:lstStyle/>
          <a:p>
            <a:pPr algn="l" indent="0" marL="0">
              <a:lnSpc>
                <a:spcPct val="165000"/>
              </a:lnSpc>
              <a:buNone/>
            </a:pPr>
            <a:r>
              <a:rPr lang="en-US" sz="1163" b="1" dirty="0">
                <a:solidFill>
                  <a:srgbClr val="22272E"/>
                </a:solidFill>
                <a:latin typeface="Helvetica" pitchFamily="34" charset="0"/>
                <a:ea typeface="Helvetica" pitchFamily="34" charset="-122"/>
                <a:cs typeface="Helvetica" pitchFamily="34" charset="-120"/>
              </a:rPr>
              <a:t>jira-triage </a:t>
            </a:r>
            <a:pPr algn="l" indent="0" marL="0">
              <a:lnSpc>
                <a:spcPct val="165000"/>
              </a:lnSpc>
              <a:buNone/>
            </a:pPr>
            <a:r>
              <a:rPr lang="en-US" sz="1163" dirty="0">
                <a:solidFill>
                  <a:srgbClr val="22272E"/>
                </a:solidFill>
                <a:latin typeface="Helvetica" pitchFamily="34" charset="0"/>
                <a:ea typeface="Helvetica" pitchFamily="34" charset="-122"/>
                <a:cs typeface="Helvetica" pitchFamily="34" charset="-120"/>
              </a:rPr>
              <a:t>is a single-process Python service that polls Jira for new or updated defects and triages each one automatically. For every defect it reads the details, comments, and screenshot attachments, checks the full defect corpus for duplicates, determines a likely root cause and suggested resolution, and logs everything back into Jira as a triage comment, labels, and a “Duplicate” issue link.</a:t>
            </a:r>
            <a:endParaRPr lang="en-US" sz="1163" dirty="0"/>
          </a:p>
        </p:txBody>
      </p:sp>
      <p:sp>
        <p:nvSpPr>
          <p:cNvPr id="7" name="Shape 5"/>
          <p:cNvSpPr/>
          <p:nvPr/>
        </p:nvSpPr>
        <p:spPr>
          <a:xfrm>
            <a:off x="692150" y="3273028"/>
            <a:ext cx="7950200" cy="19050"/>
          </a:xfrm>
          <a:prstGeom prst="rect">
            <a:avLst/>
          </a:prstGeom>
          <a:solidFill>
            <a:srgbClr val="ECEEF1"/>
          </a:solidFill>
          <a:ln/>
        </p:spPr>
      </p:sp>
      <p:sp>
        <p:nvSpPr>
          <p:cNvPr id="8" name="Text 6"/>
          <p:cNvSpPr/>
          <p:nvPr/>
        </p:nvSpPr>
        <p:spPr>
          <a:xfrm>
            <a:off x="692150" y="2955528"/>
            <a:ext cx="8188706" cy="279400"/>
          </a:xfrm>
          <a:prstGeom prst="rect">
            <a:avLst/>
          </a:prstGeom>
          <a:noFill/>
          <a:ln/>
        </p:spPr>
        <p:txBody>
          <a:bodyPr wrap="square" lIns="25400" tIns="25400" rIns="25400" bIns="25400" rtlCol="0" anchor="t">
            <a:normAutofit/>
          </a:bodyPr>
          <a:lstStyle/>
          <a:p>
            <a:pPr algn="l" indent="0" marL="0">
              <a:buNone/>
            </a:pPr>
            <a:r>
              <a:rPr lang="en-US" sz="1650" b="1" dirty="0">
                <a:solidFill>
                  <a:srgbClr val="22272E"/>
                </a:solidFill>
                <a:latin typeface="Helvetica" pitchFamily="34" charset="0"/>
                <a:ea typeface="Helvetica" pitchFamily="34" charset="-122"/>
                <a:cs typeface="Helvetica" pitchFamily="34" charset="-120"/>
              </a:rPr>
              <a:t>High-level architecture</a:t>
            </a:r>
            <a:endParaRPr lang="en-US" sz="1650" dirty="0"/>
          </a:p>
        </p:txBody>
      </p:sp>
      <p:sp>
        <p:nvSpPr>
          <p:cNvPr id="9" name="Shape 7"/>
          <p:cNvSpPr/>
          <p:nvPr/>
        </p:nvSpPr>
        <p:spPr>
          <a:xfrm>
            <a:off x="692150" y="3444478"/>
            <a:ext cx="7975600" cy="4013200"/>
          </a:xfrm>
          <a:prstGeom prst="roundRect">
            <a:avLst>
              <a:gd name="adj" fmla="val 1899"/>
            </a:avLst>
          </a:prstGeom>
          <a:solidFill>
            <a:srgbClr val="F7F8F9"/>
          </a:solidFill>
          <a:ln w="6350">
            <a:solidFill>
              <a:srgbClr val="E3E7EC"/>
            </a:solidFill>
            <a:prstDash val="solid"/>
          </a:ln>
        </p:spPr>
      </p:sp>
      <p:pic>
        <p:nvPicPr>
          <p:cNvPr id="1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98500" y="3450828"/>
            <a:ext cx="7962900" cy="4000500"/>
          </a:xfrm>
          <a:prstGeom prst="rect">
            <a:avLst/>
          </a:prstGeom>
        </p:spPr>
      </p:pic>
      <p:sp>
        <p:nvSpPr>
          <p:cNvPr id="11" name="Shape 8"/>
          <p:cNvSpPr/>
          <p:nvPr/>
        </p:nvSpPr>
        <p:spPr>
          <a:xfrm>
            <a:off x="1003300" y="4308078"/>
            <a:ext cx="1562100" cy="2286000"/>
          </a:xfrm>
          <a:prstGeom prst="roundRect">
            <a:avLst>
              <a:gd name="adj" fmla="val 4878"/>
            </a:avLst>
          </a:prstGeom>
          <a:solidFill>
            <a:srgbClr val="EAF1FB"/>
          </a:solidFill>
          <a:ln w="12700">
            <a:solidFill>
              <a:srgbClr val="3672C9"/>
            </a:solidFill>
            <a:prstDash val="solid"/>
          </a:ln>
        </p:spPr>
      </p:sp>
      <p:sp>
        <p:nvSpPr>
          <p:cNvPr id="12" name="Text 9"/>
          <p:cNvSpPr/>
          <p:nvPr/>
        </p:nvSpPr>
        <p:spPr>
          <a:xfrm>
            <a:off x="1149350" y="4454128"/>
            <a:ext cx="1397000" cy="215900"/>
          </a:xfrm>
          <a:prstGeom prst="rect">
            <a:avLst/>
          </a:prstGeom>
          <a:noFill/>
          <a:ln/>
        </p:spPr>
        <p:txBody>
          <a:bodyPr wrap="square" lIns="25400" tIns="25400" rIns="25400" bIns="25400" rtlCol="0" anchor="t">
            <a:normAutofit/>
          </a:bodyPr>
          <a:lstStyle/>
          <a:p>
            <a:pPr algn="l" indent="0" marL="0">
              <a:buNone/>
            </a:pPr>
            <a:r>
              <a:rPr lang="en-US" sz="1200" b="1" dirty="0">
                <a:solidFill>
                  <a:srgbClr val="24518F"/>
                </a:solidFill>
                <a:latin typeface="Helvetica" pitchFamily="34" charset="0"/>
                <a:ea typeface="Helvetica" pitchFamily="34" charset="-122"/>
                <a:cs typeface="Helvetica" pitchFamily="34" charset="-120"/>
              </a:rPr>
              <a:t>Jira Cloud</a:t>
            </a:r>
            <a:endParaRPr lang="en-US" sz="1200" dirty="0"/>
          </a:p>
        </p:txBody>
      </p:sp>
      <p:sp>
        <p:nvSpPr>
          <p:cNvPr id="13" name="Text 10"/>
          <p:cNvSpPr/>
          <p:nvPr/>
        </p:nvSpPr>
        <p:spPr>
          <a:xfrm>
            <a:off x="1149350" y="4650978"/>
            <a:ext cx="1397000" cy="171450"/>
          </a:xfrm>
          <a:prstGeom prst="rect">
            <a:avLst/>
          </a:prstGeom>
          <a:noFill/>
          <a:ln/>
        </p:spPr>
        <p:txBody>
          <a:bodyPr wrap="square" lIns="25400" tIns="25400" rIns="25400" bIns="25400" rtlCol="0" anchor="t">
            <a:normAutofit/>
          </a:bodyPr>
          <a:lstStyle/>
          <a:p>
            <a:pPr algn="l" indent="0" marL="0">
              <a:buNone/>
            </a:pPr>
            <a:r>
              <a:rPr lang="en-US" sz="900" dirty="0">
                <a:solidFill>
                  <a:srgbClr val="4A68A0"/>
                </a:solidFill>
                <a:latin typeface="Helvetica" pitchFamily="34" charset="0"/>
                <a:ea typeface="Helvetica" pitchFamily="34" charset="-122"/>
                <a:cs typeface="Helvetica" pitchFamily="34" charset="-120"/>
              </a:rPr>
              <a:t>REST API v3</a:t>
            </a:r>
            <a:endParaRPr lang="en-US" sz="900" dirty="0"/>
          </a:p>
        </p:txBody>
      </p:sp>
      <p:sp>
        <p:nvSpPr>
          <p:cNvPr id="14" name="Text 11"/>
          <p:cNvSpPr/>
          <p:nvPr/>
        </p:nvSpPr>
        <p:spPr>
          <a:xfrm>
            <a:off x="1149350" y="4898628"/>
            <a:ext cx="1346200" cy="752475"/>
          </a:xfrm>
          <a:prstGeom prst="rect">
            <a:avLst/>
          </a:prstGeom>
          <a:noFill/>
          <a:ln/>
        </p:spPr>
        <p:txBody>
          <a:bodyPr wrap="square" lIns="25400" tIns="25400" rIns="25400" bIns="25400" rtlCol="0" anchor="t">
            <a:normAutofit/>
          </a:bodyPr>
          <a:lstStyle/>
          <a:p>
            <a:pPr algn="l" indent="0" marL="0">
              <a:lnSpc>
                <a:spcPct val="150000"/>
              </a:lnSpc>
              <a:buNone/>
            </a:pPr>
            <a:r>
              <a:rPr lang="en-US" sz="938" dirty="0">
                <a:solidFill>
                  <a:srgbClr val="3A4450"/>
                </a:solidFill>
                <a:latin typeface="Helvetica" pitchFamily="34" charset="0"/>
                <a:ea typeface="Helvetica" pitchFamily="34" charset="-122"/>
                <a:cs typeface="Helvetica" pitchFamily="34" charset="-120"/>
              </a:rPr>
              <a:t>Defect issues, comments, screenshot attachments, labels, issue links</a:t>
            </a:r>
            <a:endParaRPr lang="en-US" sz="938" dirty="0"/>
          </a:p>
        </p:txBody>
      </p:sp>
      <p:sp>
        <p:nvSpPr>
          <p:cNvPr id="15" name="Shape 12"/>
          <p:cNvSpPr/>
          <p:nvPr/>
        </p:nvSpPr>
        <p:spPr>
          <a:xfrm>
            <a:off x="3098800" y="3793728"/>
            <a:ext cx="3162300" cy="3314700"/>
          </a:xfrm>
          <a:prstGeom prst="roundRect">
            <a:avLst>
              <a:gd name="adj" fmla="val 3012"/>
            </a:avLst>
          </a:prstGeom>
          <a:solidFill>
            <a:srgbClr val="FFFFFF"/>
          </a:solidFill>
          <a:ln w="12700">
            <a:solidFill>
              <a:srgbClr val="98A2AE"/>
            </a:solidFill>
            <a:prstDash val="dash"/>
          </a:ln>
        </p:spPr>
      </p:sp>
      <p:sp>
        <p:nvSpPr>
          <p:cNvPr id="16" name="Text 13"/>
          <p:cNvSpPr/>
          <p:nvPr/>
        </p:nvSpPr>
        <p:spPr>
          <a:xfrm>
            <a:off x="3263900" y="3939778"/>
            <a:ext cx="3115310" cy="203200"/>
          </a:xfrm>
          <a:prstGeom prst="rect">
            <a:avLst/>
          </a:prstGeom>
          <a:noFill/>
          <a:ln/>
        </p:spPr>
        <p:txBody>
          <a:bodyPr wrap="square" lIns="25400" tIns="25400" rIns="25400" bIns="25400" rtlCol="0" anchor="t">
            <a:normAutofit/>
          </a:bodyPr>
          <a:lstStyle/>
          <a:p>
            <a:pPr algn="l" indent="0" marL="0">
              <a:buNone/>
            </a:pPr>
            <a:r>
              <a:rPr lang="en-US" sz="1125" b="1" dirty="0">
                <a:solidFill>
                  <a:srgbClr val="22272E"/>
                </a:solidFill>
                <a:latin typeface="Helvetica" pitchFamily="34" charset="0"/>
                <a:ea typeface="Helvetica" pitchFamily="34" charset="-122"/>
                <a:cs typeface="Helvetica" pitchFamily="34" charset="-120"/>
              </a:rPr>
              <a:t>jira-triage </a:t>
            </a:r>
            <a:pPr algn="l" indent="0" marL="0">
              <a:buNone/>
            </a:pPr>
            <a:r>
              <a:rPr lang="en-US" sz="938" dirty="0">
                <a:solidFill>
                  <a:srgbClr val="7A8592"/>
                </a:solidFill>
                <a:latin typeface="Helvetica" pitchFamily="34" charset="0"/>
                <a:ea typeface="Helvetica" pitchFamily="34" charset="-122"/>
                <a:cs typeface="Helvetica" pitchFamily="34" charset="-120"/>
              </a:rPr>
              <a:t>— Python service</a:t>
            </a:r>
            <a:endParaRPr lang="en-US" sz="1125" dirty="0"/>
          </a:p>
        </p:txBody>
      </p:sp>
      <p:sp>
        <p:nvSpPr>
          <p:cNvPr id="17" name="Shape 14"/>
          <p:cNvSpPr/>
          <p:nvPr/>
        </p:nvSpPr>
        <p:spPr>
          <a:xfrm>
            <a:off x="3263900" y="4238228"/>
            <a:ext cx="2832100" cy="495300"/>
          </a:xfrm>
          <a:prstGeom prst="roundRect">
            <a:avLst>
              <a:gd name="adj" fmla="val 11538"/>
            </a:avLst>
          </a:prstGeom>
          <a:solidFill>
            <a:srgbClr val="FFFFFF"/>
          </a:solidFill>
          <a:ln w="12700">
            <a:solidFill>
              <a:srgbClr val="AEB7C2"/>
            </a:solidFill>
            <a:prstDash val="solid"/>
          </a:ln>
        </p:spPr>
      </p:sp>
      <p:sp>
        <p:nvSpPr>
          <p:cNvPr id="18" name="Text 15"/>
          <p:cNvSpPr/>
          <p:nvPr/>
        </p:nvSpPr>
        <p:spPr>
          <a:xfrm>
            <a:off x="3390900" y="4336653"/>
            <a:ext cx="2835910" cy="184150"/>
          </a:xfrm>
          <a:prstGeom prst="rect">
            <a:avLst/>
          </a:prstGeom>
          <a:noFill/>
          <a:ln/>
        </p:spPr>
        <p:txBody>
          <a:bodyPr wrap="square" lIns="25400" tIns="25400" rIns="25400" bIns="25400" rtlCol="0" anchor="t">
            <a:normAutofit/>
          </a:bodyPr>
          <a:lstStyle/>
          <a:p>
            <a:pPr algn="l" indent="0" marL="0">
              <a:buNone/>
            </a:pPr>
            <a:r>
              <a:rPr lang="en-US" sz="1013" b="1" dirty="0">
                <a:solidFill>
                  <a:srgbClr val="22272E"/>
                </a:solidFill>
                <a:latin typeface="Helvetica" pitchFamily="34" charset="0"/>
                <a:ea typeface="Helvetica" pitchFamily="34" charset="-122"/>
                <a:cs typeface="Helvetica" pitchFamily="34" charset="-120"/>
              </a:rPr>
              <a:t>Ingest</a:t>
            </a:r>
            <a:endParaRPr lang="en-US" sz="1013" dirty="0"/>
          </a:p>
        </p:txBody>
      </p:sp>
      <p:sp>
        <p:nvSpPr>
          <p:cNvPr id="19" name="Text 16"/>
          <p:cNvSpPr/>
          <p:nvPr/>
        </p:nvSpPr>
        <p:spPr>
          <a:xfrm>
            <a:off x="3390900" y="4501753"/>
            <a:ext cx="2835910" cy="171450"/>
          </a:xfrm>
          <a:prstGeom prst="rect">
            <a:avLst/>
          </a:prstGeom>
          <a:noFill/>
          <a:ln/>
        </p:spPr>
        <p:txBody>
          <a:bodyPr wrap="square" lIns="25400" tIns="25400" rIns="25400" bIns="25400" rtlCol="0" anchor="t">
            <a:normAutofit/>
          </a:bodyPr>
          <a:lstStyle/>
          <a:p>
            <a:pPr algn="l" indent="0" marL="0">
              <a:buNone/>
            </a:pPr>
            <a:r>
              <a:rPr lang="en-US" sz="900" dirty="0">
                <a:solidFill>
                  <a:srgbClr val="5B6673"/>
                </a:solidFill>
                <a:latin typeface="Helvetica" pitchFamily="34" charset="0"/>
                <a:ea typeface="Helvetica" pitchFamily="34" charset="-122"/>
                <a:cs typeface="Helvetica" pitchFamily="34" charset="-120"/>
              </a:rPr>
              <a:t>Poll JQL · fetch details, comments, attachments</a:t>
            </a:r>
            <a:endParaRPr lang="en-US" sz="900" dirty="0"/>
          </a:p>
        </p:txBody>
      </p:sp>
      <p:sp>
        <p:nvSpPr>
          <p:cNvPr id="20" name="Shape 17"/>
          <p:cNvSpPr/>
          <p:nvPr/>
        </p:nvSpPr>
        <p:spPr>
          <a:xfrm>
            <a:off x="3263900" y="4943078"/>
            <a:ext cx="2832100" cy="628650"/>
          </a:xfrm>
          <a:prstGeom prst="roundRect">
            <a:avLst>
              <a:gd name="adj" fmla="val 9091"/>
            </a:avLst>
          </a:prstGeom>
          <a:solidFill>
            <a:srgbClr val="FDF3EC"/>
          </a:solidFill>
          <a:ln w="12700">
            <a:solidFill>
              <a:srgbClr val="C9763D"/>
            </a:solidFill>
            <a:prstDash val="solid"/>
          </a:ln>
        </p:spPr>
      </p:sp>
      <p:sp>
        <p:nvSpPr>
          <p:cNvPr id="21" name="Text 18"/>
          <p:cNvSpPr/>
          <p:nvPr/>
        </p:nvSpPr>
        <p:spPr>
          <a:xfrm>
            <a:off x="3390900" y="5041503"/>
            <a:ext cx="2835910" cy="184150"/>
          </a:xfrm>
          <a:prstGeom prst="rect">
            <a:avLst/>
          </a:prstGeom>
          <a:noFill/>
          <a:ln/>
        </p:spPr>
        <p:txBody>
          <a:bodyPr wrap="square" lIns="25400" tIns="25400" rIns="25400" bIns="25400" rtlCol="0" anchor="t">
            <a:normAutofit/>
          </a:bodyPr>
          <a:lstStyle/>
          <a:p>
            <a:pPr algn="l" indent="0" marL="0">
              <a:buNone/>
            </a:pPr>
            <a:r>
              <a:rPr lang="en-US" sz="1013" b="1" dirty="0">
                <a:solidFill>
                  <a:srgbClr val="8A4C1F"/>
                </a:solidFill>
                <a:latin typeface="Helvetica" pitchFamily="34" charset="0"/>
                <a:ea typeface="Helvetica" pitchFamily="34" charset="-122"/>
                <a:cs typeface="Helvetica" pitchFamily="34" charset="-120"/>
              </a:rPr>
              <a:t>Analyze</a:t>
            </a:r>
            <a:endParaRPr lang="en-US" sz="1013" dirty="0"/>
          </a:p>
        </p:txBody>
      </p:sp>
      <p:sp>
        <p:nvSpPr>
          <p:cNvPr id="22" name="Text 19"/>
          <p:cNvSpPr/>
          <p:nvPr/>
        </p:nvSpPr>
        <p:spPr>
          <a:xfrm>
            <a:off x="3390900" y="5206604"/>
            <a:ext cx="2655443" cy="304800"/>
          </a:xfrm>
          <a:prstGeom prst="rect">
            <a:avLst/>
          </a:prstGeom>
          <a:noFill/>
          <a:ln/>
        </p:spPr>
        <p:txBody>
          <a:bodyPr wrap="square" lIns="25400" tIns="25400" rIns="25400" bIns="25400" rtlCol="0" anchor="t">
            <a:normAutofit/>
          </a:bodyPr>
          <a:lstStyle/>
          <a:p>
            <a:pPr algn="l" indent="0" marL="0">
              <a:buNone/>
            </a:pPr>
            <a:r>
              <a:rPr lang="en-US" sz="900" dirty="0">
                <a:solidFill>
                  <a:srgbClr val="7A5334"/>
                </a:solidFill>
                <a:latin typeface="Helvetica" pitchFamily="34" charset="0"/>
                <a:ea typeface="Helvetica" pitchFamily="34" charset="-122"/>
                <a:cs typeface="Helvetica" pitchFamily="34" charset="-120"/>
              </a:rPr>
              <a:t>Fuzzy duplicate ranking · vision on screenshots · root cause + fix</a:t>
            </a:r>
            <a:endParaRPr lang="en-US" sz="900" dirty="0"/>
          </a:p>
        </p:txBody>
      </p:sp>
      <p:sp>
        <p:nvSpPr>
          <p:cNvPr id="23" name="Shape 20"/>
          <p:cNvSpPr/>
          <p:nvPr/>
        </p:nvSpPr>
        <p:spPr>
          <a:xfrm>
            <a:off x="3263900" y="5781278"/>
            <a:ext cx="2832100" cy="495300"/>
          </a:xfrm>
          <a:prstGeom prst="roundRect">
            <a:avLst>
              <a:gd name="adj" fmla="val 11538"/>
            </a:avLst>
          </a:prstGeom>
          <a:solidFill>
            <a:srgbClr val="FFFFFF"/>
          </a:solidFill>
          <a:ln w="12700">
            <a:solidFill>
              <a:srgbClr val="AEB7C2"/>
            </a:solidFill>
            <a:prstDash val="solid"/>
          </a:ln>
        </p:spPr>
      </p:sp>
      <p:sp>
        <p:nvSpPr>
          <p:cNvPr id="24" name="Text 21"/>
          <p:cNvSpPr/>
          <p:nvPr/>
        </p:nvSpPr>
        <p:spPr>
          <a:xfrm>
            <a:off x="3390900" y="5879703"/>
            <a:ext cx="2835910" cy="184150"/>
          </a:xfrm>
          <a:prstGeom prst="rect">
            <a:avLst/>
          </a:prstGeom>
          <a:noFill/>
          <a:ln/>
        </p:spPr>
        <p:txBody>
          <a:bodyPr wrap="square" lIns="25400" tIns="25400" rIns="25400" bIns="25400" rtlCol="0" anchor="t">
            <a:normAutofit/>
          </a:bodyPr>
          <a:lstStyle/>
          <a:p>
            <a:pPr algn="l" indent="0" marL="0">
              <a:buNone/>
            </a:pPr>
            <a:r>
              <a:rPr lang="en-US" sz="1013" b="1" dirty="0">
                <a:solidFill>
                  <a:srgbClr val="22272E"/>
                </a:solidFill>
                <a:latin typeface="Helvetica" pitchFamily="34" charset="0"/>
                <a:ea typeface="Helvetica" pitchFamily="34" charset="-122"/>
                <a:cs typeface="Helvetica" pitchFamily="34" charset="-120"/>
              </a:rPr>
              <a:t>Write-back</a:t>
            </a:r>
            <a:endParaRPr lang="en-US" sz="1013" dirty="0"/>
          </a:p>
        </p:txBody>
      </p:sp>
      <p:sp>
        <p:nvSpPr>
          <p:cNvPr id="25" name="Text 22"/>
          <p:cNvSpPr/>
          <p:nvPr/>
        </p:nvSpPr>
        <p:spPr>
          <a:xfrm>
            <a:off x="3390900" y="6044804"/>
            <a:ext cx="2835910" cy="171450"/>
          </a:xfrm>
          <a:prstGeom prst="rect">
            <a:avLst/>
          </a:prstGeom>
          <a:noFill/>
          <a:ln/>
        </p:spPr>
        <p:txBody>
          <a:bodyPr wrap="square" lIns="25400" tIns="25400" rIns="25400" bIns="25400" rtlCol="0" anchor="t">
            <a:normAutofit/>
          </a:bodyPr>
          <a:lstStyle/>
          <a:p>
            <a:pPr algn="l" indent="0" marL="0">
              <a:buNone/>
            </a:pPr>
            <a:r>
              <a:rPr lang="en-US" sz="900" dirty="0">
                <a:solidFill>
                  <a:srgbClr val="5B6673"/>
                </a:solidFill>
                <a:latin typeface="Helvetica" pitchFamily="34" charset="0"/>
                <a:ea typeface="Helvetica" pitchFamily="34" charset="-122"/>
                <a:cs typeface="Helvetica" pitchFamily="34" charset="-120"/>
              </a:rPr>
              <a:t>Triage comment · labels · “Duplicate” link</a:t>
            </a:r>
            <a:endParaRPr lang="en-US" sz="900" dirty="0"/>
          </a:p>
        </p:txBody>
      </p:sp>
      <p:sp>
        <p:nvSpPr>
          <p:cNvPr id="26" name="Text 23"/>
          <p:cNvSpPr/>
          <p:nvPr/>
        </p:nvSpPr>
        <p:spPr>
          <a:xfrm>
            <a:off x="3263900" y="6390878"/>
            <a:ext cx="3115310" cy="165100"/>
          </a:xfrm>
          <a:prstGeom prst="rect">
            <a:avLst/>
          </a:prstGeom>
          <a:noFill/>
          <a:ln/>
        </p:spPr>
        <p:txBody>
          <a:bodyPr wrap="square" lIns="25400" tIns="25400" rIns="25400" bIns="25400" rtlCol="0" anchor="t">
            <a:normAutofit/>
          </a:bodyPr>
          <a:lstStyle/>
          <a:p>
            <a:pPr algn="l" indent="0" marL="0">
              <a:buNone/>
            </a:pPr>
            <a:r>
              <a:rPr lang="en-US" sz="863" dirty="0">
                <a:solidFill>
                  <a:srgbClr val="7A8592"/>
                </a:solidFill>
                <a:latin typeface="Courier New" pitchFamily="34" charset="0"/>
                <a:ea typeface="Courier New" pitchFamily="34" charset="-122"/>
                <a:cs typeface="Courier New" pitchFamily="34" charset="-120"/>
              </a:rPr>
              <a:t>config.yaml · .env · .triage_state.json</a:t>
            </a:r>
            <a:endParaRPr lang="en-US" sz="863" dirty="0"/>
          </a:p>
        </p:txBody>
      </p:sp>
      <p:sp>
        <p:nvSpPr>
          <p:cNvPr id="27" name="Shape 24"/>
          <p:cNvSpPr/>
          <p:nvPr/>
        </p:nvSpPr>
        <p:spPr>
          <a:xfrm>
            <a:off x="6985000" y="4403328"/>
            <a:ext cx="1447800" cy="2095500"/>
          </a:xfrm>
          <a:prstGeom prst="roundRect">
            <a:avLst>
              <a:gd name="adj" fmla="val 5263"/>
            </a:avLst>
          </a:prstGeom>
          <a:solidFill>
            <a:srgbClr val="FDF3EC"/>
          </a:solidFill>
          <a:ln w="12700">
            <a:solidFill>
              <a:srgbClr val="C9763D"/>
            </a:solidFill>
            <a:prstDash val="solid"/>
          </a:ln>
        </p:spPr>
      </p:sp>
      <p:sp>
        <p:nvSpPr>
          <p:cNvPr id="28" name="Text 25"/>
          <p:cNvSpPr/>
          <p:nvPr/>
        </p:nvSpPr>
        <p:spPr>
          <a:xfrm>
            <a:off x="7131050" y="4549378"/>
            <a:ext cx="1231900" cy="215900"/>
          </a:xfrm>
          <a:prstGeom prst="rect">
            <a:avLst/>
          </a:prstGeom>
          <a:noFill/>
          <a:ln/>
        </p:spPr>
        <p:txBody>
          <a:bodyPr wrap="square" lIns="25400" tIns="25400" rIns="25400" bIns="25400" rtlCol="0" anchor="t">
            <a:normAutofit/>
          </a:bodyPr>
          <a:lstStyle/>
          <a:p>
            <a:pPr algn="l" indent="0" marL="0">
              <a:buNone/>
            </a:pPr>
            <a:r>
              <a:rPr lang="en-US" sz="1200" b="1" dirty="0">
                <a:solidFill>
                  <a:srgbClr val="8A4C1F"/>
                </a:solidFill>
                <a:latin typeface="Helvetica" pitchFamily="34" charset="0"/>
                <a:ea typeface="Helvetica" pitchFamily="34" charset="-122"/>
                <a:cs typeface="Helvetica" pitchFamily="34" charset="-120"/>
              </a:rPr>
              <a:t>OpenAI API</a:t>
            </a:r>
            <a:endParaRPr lang="en-US" sz="1200" dirty="0"/>
          </a:p>
        </p:txBody>
      </p:sp>
      <p:sp>
        <p:nvSpPr>
          <p:cNvPr id="29" name="Text 26"/>
          <p:cNvSpPr/>
          <p:nvPr/>
        </p:nvSpPr>
        <p:spPr>
          <a:xfrm>
            <a:off x="7131050" y="4746228"/>
            <a:ext cx="1231900" cy="304800"/>
          </a:xfrm>
          <a:prstGeom prst="rect">
            <a:avLst/>
          </a:prstGeom>
          <a:noFill/>
          <a:ln/>
        </p:spPr>
        <p:txBody>
          <a:bodyPr wrap="square" lIns="25400" tIns="25400" rIns="25400" bIns="25400" rtlCol="0" anchor="t">
            <a:normAutofit/>
          </a:bodyPr>
          <a:lstStyle/>
          <a:p>
            <a:pPr algn="l" indent="0" marL="0">
              <a:buNone/>
            </a:pPr>
            <a:r>
              <a:rPr lang="en-US" sz="900" dirty="0">
                <a:solidFill>
                  <a:srgbClr val="A06B3F"/>
                </a:solidFill>
                <a:latin typeface="Helvetica" pitchFamily="34" charset="0"/>
                <a:ea typeface="Helvetica" pitchFamily="34" charset="-122"/>
                <a:cs typeface="Helvetica" pitchFamily="34" charset="-120"/>
              </a:rPr>
              <a:t>GPT — vision + reasoning</a:t>
            </a:r>
            <a:endParaRPr lang="en-US" sz="900" dirty="0"/>
          </a:p>
        </p:txBody>
      </p:sp>
      <p:sp>
        <p:nvSpPr>
          <p:cNvPr id="30" name="Text 27"/>
          <p:cNvSpPr/>
          <p:nvPr/>
        </p:nvSpPr>
        <p:spPr>
          <a:xfrm>
            <a:off x="7131050" y="5127228"/>
            <a:ext cx="1231900" cy="752475"/>
          </a:xfrm>
          <a:prstGeom prst="rect">
            <a:avLst/>
          </a:prstGeom>
          <a:noFill/>
          <a:ln/>
        </p:spPr>
        <p:txBody>
          <a:bodyPr wrap="square" lIns="25400" tIns="25400" rIns="25400" bIns="25400" rtlCol="0" anchor="t">
            <a:normAutofit/>
          </a:bodyPr>
          <a:lstStyle/>
          <a:p>
            <a:pPr algn="l" indent="0" marL="0">
              <a:lnSpc>
                <a:spcPct val="150000"/>
              </a:lnSpc>
              <a:buNone/>
            </a:pPr>
            <a:r>
              <a:rPr lang="en-US" sz="938" dirty="0">
                <a:solidFill>
                  <a:srgbClr val="7A5334"/>
                </a:solidFill>
                <a:latin typeface="Helvetica" pitchFamily="34" charset="0"/>
                <a:ea typeface="Helvetica" pitchFamily="34" charset="-122"/>
                <a:cs typeface="Helvetica" pitchFamily="34" charset="-120"/>
              </a:rPr>
              <a:t>Screenshot analysis, duplicate confirmation, root cause + suggested fix</a:t>
            </a:r>
            <a:endParaRPr lang="en-US" sz="938" dirty="0"/>
          </a:p>
        </p:txBody>
      </p:sp>
      <p:sp>
        <p:nvSpPr>
          <p:cNvPr id="31" name="Text 28"/>
          <p:cNvSpPr/>
          <p:nvPr/>
        </p:nvSpPr>
        <p:spPr>
          <a:xfrm>
            <a:off x="2260600" y="4403328"/>
            <a:ext cx="1143000" cy="158750"/>
          </a:xfrm>
          <a:prstGeom prst="rect">
            <a:avLst/>
          </a:prstGeom>
          <a:noFill/>
          <a:ln/>
        </p:spPr>
        <p:txBody>
          <a:bodyPr wrap="square" lIns="25400" tIns="25400" rIns="25400" bIns="25400" rtlCol="0" anchor="t">
            <a:normAutofit/>
          </a:bodyPr>
          <a:lstStyle/>
          <a:p>
            <a:pPr algn="ctr" indent="0" marL="0">
              <a:buNone/>
            </a:pPr>
            <a:r>
              <a:rPr lang="en-US" sz="825" dirty="0">
                <a:solidFill>
                  <a:srgbClr val="24518F"/>
                </a:solidFill>
                <a:latin typeface="Helvetica" pitchFamily="34" charset="0"/>
                <a:ea typeface="Helvetica" pitchFamily="34" charset="-122"/>
                <a:cs typeface="Helvetica" pitchFamily="34" charset="-120"/>
              </a:rPr>
              <a:t>JQL poll</a:t>
            </a:r>
            <a:endParaRPr lang="en-US" sz="825" dirty="0"/>
          </a:p>
        </p:txBody>
      </p:sp>
      <p:sp>
        <p:nvSpPr>
          <p:cNvPr id="32" name="Text 29"/>
          <p:cNvSpPr/>
          <p:nvPr/>
        </p:nvSpPr>
        <p:spPr>
          <a:xfrm>
            <a:off x="2298700" y="6289278"/>
            <a:ext cx="1143000" cy="158750"/>
          </a:xfrm>
          <a:prstGeom prst="rect">
            <a:avLst/>
          </a:prstGeom>
          <a:noFill/>
          <a:ln/>
        </p:spPr>
        <p:txBody>
          <a:bodyPr wrap="square" lIns="25400" tIns="25400" rIns="25400" bIns="25400" rtlCol="0" anchor="t">
            <a:normAutofit/>
          </a:bodyPr>
          <a:lstStyle/>
          <a:p>
            <a:pPr algn="ctr" indent="0" marL="0">
              <a:buNone/>
            </a:pPr>
            <a:r>
              <a:rPr lang="en-US" sz="825" dirty="0">
                <a:solidFill>
                  <a:srgbClr val="24518F"/>
                </a:solidFill>
                <a:latin typeface="Helvetica" pitchFamily="34" charset="0"/>
                <a:ea typeface="Helvetica" pitchFamily="34" charset="-122"/>
                <a:cs typeface="Helvetica" pitchFamily="34" charset="-120"/>
              </a:rPr>
              <a:t>comment · labels · link</a:t>
            </a:r>
            <a:endParaRPr lang="en-US" sz="825" dirty="0"/>
          </a:p>
        </p:txBody>
      </p:sp>
      <p:sp>
        <p:nvSpPr>
          <p:cNvPr id="33" name="Text 30"/>
          <p:cNvSpPr/>
          <p:nvPr/>
        </p:nvSpPr>
        <p:spPr>
          <a:xfrm>
            <a:off x="6223000" y="4555728"/>
            <a:ext cx="762000" cy="310356"/>
          </a:xfrm>
          <a:prstGeom prst="rect">
            <a:avLst/>
          </a:prstGeom>
          <a:noFill/>
          <a:ln/>
        </p:spPr>
        <p:txBody>
          <a:bodyPr wrap="square" lIns="25400" tIns="25400" rIns="25400" bIns="25400" rtlCol="0" anchor="t">
            <a:normAutofit/>
          </a:bodyPr>
          <a:lstStyle/>
          <a:p>
            <a:pPr algn="ctr" indent="0" marL="0">
              <a:lnSpc>
                <a:spcPct val="130000"/>
              </a:lnSpc>
              <a:buNone/>
            </a:pPr>
            <a:r>
              <a:rPr lang="en-US" sz="825" dirty="0">
                <a:solidFill>
                  <a:srgbClr val="8A4C1F"/>
                </a:solidFill>
                <a:latin typeface="Helvetica" pitchFamily="34" charset="0"/>
                <a:ea typeface="Helvetica" pitchFamily="34" charset="-122"/>
                <a:cs typeface="Helvetica" pitchFamily="34" charset="-120"/>
              </a:rPr>
              <a:t>evidence · candidates</a:t>
            </a:r>
            <a:endParaRPr lang="en-US" sz="825" dirty="0"/>
          </a:p>
        </p:txBody>
      </p:sp>
      <p:sp>
        <p:nvSpPr>
          <p:cNvPr id="34" name="Text 31"/>
          <p:cNvSpPr/>
          <p:nvPr/>
        </p:nvSpPr>
        <p:spPr>
          <a:xfrm>
            <a:off x="6223000" y="5546328"/>
            <a:ext cx="762000" cy="310356"/>
          </a:xfrm>
          <a:prstGeom prst="rect">
            <a:avLst/>
          </a:prstGeom>
          <a:noFill/>
          <a:ln/>
        </p:spPr>
        <p:txBody>
          <a:bodyPr wrap="square" lIns="25400" tIns="25400" rIns="25400" bIns="25400" rtlCol="0" anchor="t">
            <a:normAutofit/>
          </a:bodyPr>
          <a:lstStyle/>
          <a:p>
            <a:pPr algn="ctr" indent="0" marL="0">
              <a:lnSpc>
                <a:spcPct val="130000"/>
              </a:lnSpc>
              <a:buNone/>
            </a:pPr>
            <a:r>
              <a:rPr lang="en-US" sz="825" dirty="0">
                <a:solidFill>
                  <a:srgbClr val="8A4C1F"/>
                </a:solidFill>
                <a:latin typeface="Helvetica" pitchFamily="34" charset="0"/>
                <a:ea typeface="Helvetica" pitchFamily="34" charset="-122"/>
                <a:cs typeface="Helvetica" pitchFamily="34" charset="-120"/>
              </a:rPr>
              <a:t>verdict · resolution</a:t>
            </a:r>
            <a:endParaRPr lang="en-US" sz="825" dirty="0"/>
          </a:p>
        </p:txBody>
      </p:sp>
      <p:sp>
        <p:nvSpPr>
          <p:cNvPr id="35" name="Text 32"/>
          <p:cNvSpPr/>
          <p:nvPr/>
        </p:nvSpPr>
        <p:spPr>
          <a:xfrm>
            <a:off x="692150" y="7552928"/>
            <a:ext cx="8745220" cy="184150"/>
          </a:xfrm>
          <a:prstGeom prst="rect">
            <a:avLst/>
          </a:prstGeom>
          <a:noFill/>
          <a:ln/>
        </p:spPr>
        <p:txBody>
          <a:bodyPr wrap="square" lIns="25400" tIns="25400" rIns="25400" bIns="25400" rtlCol="0" anchor="t">
            <a:normAutofit/>
          </a:bodyPr>
          <a:lstStyle/>
          <a:p>
            <a:pPr algn="l" indent="0" marL="0">
              <a:buNone/>
            </a:pPr>
            <a:r>
              <a:rPr lang="en-US" sz="975" dirty="0">
                <a:solidFill>
                  <a:srgbClr val="6B7480"/>
                </a:solidFill>
                <a:latin typeface="Helvetica" pitchFamily="34" charset="0"/>
                <a:ea typeface="Helvetica" pitchFamily="34" charset="-122"/>
                <a:cs typeface="Helvetica" pitchFamily="34" charset="-120"/>
              </a:rPr>
              <a:t>See the detailed component diagram for module-level structure: </a:t>
            </a:r>
            <a:pPr algn="l" indent="0" marL="0">
              <a:buNone/>
            </a:pPr>
            <a:r>
              <a:rPr lang="en-US" sz="975" u="sng" dirty="0">
                <a:solidFill>
                  <a:srgbClr val="3672C9"/>
                </a:solidFill>
                <a:latin typeface="Helvetica" pitchFamily="34" charset="0"/>
                <a:ea typeface="Helvetica" pitchFamily="34" charset="-122"/>
                <a:cs typeface="Helvetica" pitchFamily="34" charset="-120"/>
                <a:hlinkClick r:id="rId3" invalidUrl="" action="" tgtFrame="" tooltip="" history="1" highlightClick="0" endSnd="0">
                  <a:extLst>
                    <a:ext uri="{A12FA001-AC4F-418D-AE19-62706E023703}">
                      <ahyp:hlinkClr xmlns:ahyp="http://schemas.microsoft.com/office/drawing/2018/hyperlinkcolor" val="tx"/>
                    </a:ext>
                  </a:extLst>
                </a:hlinkClick>
              </a:rPr>
              <a:t>Jira Triage Architecture</a:t>
            </a:r>
            <a:pPr algn="l" indent="0" marL="0">
              <a:buNone/>
            </a:pPr>
            <a:r>
              <a:rPr lang="en-US" sz="975" dirty="0">
                <a:solidFill>
                  <a:srgbClr val="6B7480"/>
                </a:solidFill>
                <a:latin typeface="Helvetica" pitchFamily="34" charset="0"/>
                <a:ea typeface="Helvetica" pitchFamily="34" charset="-122"/>
                <a:cs typeface="Helvetica" pitchFamily="34" charset="-120"/>
              </a:rPr>
              <a:t>.</a:t>
            </a:r>
            <a:endParaRPr lang="en-US" sz="975" dirty="0"/>
          </a:p>
        </p:txBody>
      </p:sp>
      <p:sp>
        <p:nvSpPr>
          <p:cNvPr id="36" name="Shape 33"/>
          <p:cNvSpPr/>
          <p:nvPr/>
        </p:nvSpPr>
        <p:spPr>
          <a:xfrm>
            <a:off x="692150" y="8397478"/>
            <a:ext cx="7950200" cy="19050"/>
          </a:xfrm>
          <a:prstGeom prst="rect">
            <a:avLst/>
          </a:prstGeom>
          <a:solidFill>
            <a:srgbClr val="ECEEF1"/>
          </a:solidFill>
          <a:ln/>
        </p:spPr>
      </p:sp>
      <p:sp>
        <p:nvSpPr>
          <p:cNvPr id="37" name="Text 34"/>
          <p:cNvSpPr/>
          <p:nvPr/>
        </p:nvSpPr>
        <p:spPr>
          <a:xfrm>
            <a:off x="692150" y="8079978"/>
            <a:ext cx="8188706" cy="279400"/>
          </a:xfrm>
          <a:prstGeom prst="rect">
            <a:avLst/>
          </a:prstGeom>
          <a:noFill/>
          <a:ln/>
        </p:spPr>
        <p:txBody>
          <a:bodyPr wrap="square" lIns="25400" tIns="25400" rIns="25400" bIns="25400" rtlCol="0" anchor="t">
            <a:normAutofit/>
          </a:bodyPr>
          <a:lstStyle/>
          <a:p>
            <a:pPr algn="l" indent="0" marL="0">
              <a:buNone/>
            </a:pPr>
            <a:r>
              <a:rPr lang="en-US" sz="1650" b="1" dirty="0">
                <a:solidFill>
                  <a:srgbClr val="22272E"/>
                </a:solidFill>
                <a:latin typeface="Helvetica" pitchFamily="34" charset="0"/>
                <a:ea typeface="Helvetica" pitchFamily="34" charset="-122"/>
                <a:cs typeface="Helvetica" pitchFamily="34" charset="-120"/>
              </a:rPr>
              <a:t>How a defect flows through the system</a:t>
            </a:r>
            <a:endParaRPr lang="en-US" sz="1650" dirty="0"/>
          </a:p>
        </p:txBody>
      </p:sp>
      <p:sp>
        <p:nvSpPr>
          <p:cNvPr id="38" name="Text 35"/>
          <p:cNvSpPr/>
          <p:nvPr/>
        </p:nvSpPr>
        <p:spPr>
          <a:xfrm>
            <a:off x="706438" y="8549879"/>
            <a:ext cx="8167561" cy="280988"/>
          </a:xfrm>
          <a:prstGeom prst="rect">
            <a:avLst/>
          </a:prstGeom>
          <a:noFill/>
          <a:ln/>
        </p:spPr>
        <p:txBody>
          <a:bodyPr wrap="square" lIns="25400" tIns="25400" rIns="25400" bIns="25400" rtlCol="0" anchor="t">
            <a:normAutofit/>
          </a:bodyPr>
          <a:lstStyle/>
          <a:p>
            <a:pPr algn="l" marL="214313" indent="-214313">
              <a:lnSpc>
                <a:spcPct val="170000"/>
              </a:lnSpc>
              <a:buSzPct val="100000"/>
              <a:buFont typeface="+mj-lt"/>
              <a:buAutoNum type="arabicPeriod" startAt="1"/>
            </a:pPr>
            <a:r>
              <a:rPr lang="en-US" sz="1125" b="1" dirty="0">
                <a:solidFill>
                  <a:srgbClr val="22272E"/>
                </a:solidFill>
                <a:latin typeface="Helvetica" pitchFamily="34" charset="0"/>
                <a:ea typeface="Helvetica" pitchFamily="34" charset="-122"/>
                <a:cs typeface="Helvetica" pitchFamily="34" charset="-120"/>
              </a:rPr>
              <a:t>Poll </a:t>
            </a:r>
            <a:pPr algn="l" indent="0" marL="0">
              <a:lnSpc>
                <a:spcPct val="170000"/>
              </a:lnSpc>
              <a:buNone/>
            </a:pPr>
            <a:r>
              <a:rPr lang="en-US" sz="1125" dirty="0">
                <a:solidFill>
                  <a:srgbClr val="22272E"/>
                </a:solidFill>
                <a:latin typeface="Helvetica" pitchFamily="34" charset="0"/>
                <a:ea typeface="Helvetica" pitchFamily="34" charset="-122"/>
                <a:cs typeface="Helvetica" pitchFamily="34" charset="-120"/>
              </a:rPr>
              <a:t>— a JQL query finds new or updated defects; already-triaged and unchanged issues are skipped.</a:t>
            </a:r>
            <a:endParaRPr lang="en-US" sz="1125" dirty="0"/>
          </a:p>
        </p:txBody>
      </p:sp>
      <p:sp>
        <p:nvSpPr>
          <p:cNvPr id="39" name="Text 36"/>
          <p:cNvSpPr/>
          <p:nvPr/>
        </p:nvSpPr>
        <p:spPr>
          <a:xfrm>
            <a:off x="706438" y="8849916"/>
            <a:ext cx="8167561" cy="280988"/>
          </a:xfrm>
          <a:prstGeom prst="rect">
            <a:avLst/>
          </a:prstGeom>
          <a:noFill/>
          <a:ln/>
        </p:spPr>
        <p:txBody>
          <a:bodyPr wrap="square" lIns="25400" tIns="25400" rIns="25400" bIns="25400" rtlCol="0" anchor="t">
            <a:normAutofit/>
          </a:bodyPr>
          <a:lstStyle/>
          <a:p>
            <a:pPr algn="l" marL="214313" indent="-214313">
              <a:lnSpc>
                <a:spcPct val="170000"/>
              </a:lnSpc>
              <a:buSzPct val="100000"/>
              <a:buFont typeface="+mj-lt"/>
              <a:buAutoNum type="arabicPeriod" startAt="2"/>
            </a:pPr>
            <a:r>
              <a:rPr lang="en-US" sz="1125" b="1" dirty="0">
                <a:solidFill>
                  <a:srgbClr val="22272E"/>
                </a:solidFill>
                <a:latin typeface="Helvetica" pitchFamily="34" charset="0"/>
                <a:ea typeface="Helvetica" pitchFamily="34" charset="-122"/>
                <a:cs typeface="Helvetica" pitchFamily="34" charset="-120"/>
              </a:rPr>
              <a:t>Extract evidence </a:t>
            </a:r>
            <a:pPr algn="l" indent="0" marL="0">
              <a:lnSpc>
                <a:spcPct val="170000"/>
              </a:lnSpc>
              <a:buNone/>
            </a:pPr>
            <a:r>
              <a:rPr lang="en-US" sz="1125" dirty="0">
                <a:solidFill>
                  <a:srgbClr val="22272E"/>
                </a:solidFill>
                <a:latin typeface="Helvetica" pitchFamily="34" charset="0"/>
                <a:ea typeface="Helvetica" pitchFamily="34" charset="-122"/>
                <a:cs typeface="Helvetica" pitchFamily="34" charset="-120"/>
              </a:rPr>
              <a:t>— screenshot attachments are analyzed with GPT vision.</a:t>
            </a:r>
            <a:endParaRPr lang="en-US" sz="1125" dirty="0"/>
          </a:p>
        </p:txBody>
      </p:sp>
      <p:sp>
        <p:nvSpPr>
          <p:cNvPr id="40" name="Text 37"/>
          <p:cNvSpPr/>
          <p:nvPr/>
        </p:nvSpPr>
        <p:spPr>
          <a:xfrm>
            <a:off x="706438" y="9149954"/>
            <a:ext cx="8167561" cy="523875"/>
          </a:xfrm>
          <a:prstGeom prst="rect">
            <a:avLst/>
          </a:prstGeom>
          <a:noFill/>
          <a:ln/>
        </p:spPr>
        <p:txBody>
          <a:bodyPr wrap="square" lIns="25400" tIns="25400" rIns="25400" bIns="25400" rtlCol="0" anchor="t">
            <a:normAutofit/>
          </a:bodyPr>
          <a:lstStyle/>
          <a:p>
            <a:pPr algn="l" marL="214313" indent="-214313">
              <a:lnSpc>
                <a:spcPct val="170000"/>
              </a:lnSpc>
              <a:buSzPct val="100000"/>
              <a:buFont typeface="+mj-lt"/>
              <a:buAutoNum type="arabicPeriod" startAt="3"/>
            </a:pPr>
            <a:r>
              <a:rPr lang="en-US" sz="1125" b="1" dirty="0">
                <a:solidFill>
                  <a:srgbClr val="22272E"/>
                </a:solidFill>
                <a:latin typeface="Helvetica" pitchFamily="34" charset="0"/>
                <a:ea typeface="Helvetica" pitchFamily="34" charset="-122"/>
                <a:cs typeface="Helvetica" pitchFamily="34" charset="-120"/>
              </a:rPr>
              <a:t>Rank candidates </a:t>
            </a:r>
            <a:pPr algn="l" indent="0" marL="0">
              <a:lnSpc>
                <a:spcPct val="170000"/>
              </a:lnSpc>
              <a:buNone/>
            </a:pPr>
            <a:r>
              <a:rPr lang="en-US" sz="1125" dirty="0">
                <a:solidFill>
                  <a:srgbClr val="22272E"/>
                </a:solidFill>
                <a:latin typeface="Helvetica" pitchFamily="34" charset="0"/>
                <a:ea typeface="Helvetica" pitchFamily="34" charset="-122"/>
                <a:cs typeface="Helvetica" pitchFamily="34" charset="-120"/>
              </a:rPr>
              <a:t>— the defect is compared against the full corpus with fast fuzzy matching (rapidfuzz) to get top-K duplicate candidates.</a:t>
            </a:r>
            <a:endParaRPr lang="en-US" sz="1125" dirty="0"/>
          </a:p>
        </p:txBody>
      </p:sp>
      <p:sp>
        <p:nvSpPr>
          <p:cNvPr id="41" name="Text 38"/>
          <p:cNvSpPr/>
          <p:nvPr/>
        </p:nvSpPr>
        <p:spPr>
          <a:xfrm>
            <a:off x="706438" y="9692879"/>
            <a:ext cx="8167561" cy="523875"/>
          </a:xfrm>
          <a:prstGeom prst="rect">
            <a:avLst/>
          </a:prstGeom>
          <a:noFill/>
          <a:ln/>
        </p:spPr>
        <p:txBody>
          <a:bodyPr wrap="square" lIns="25400" tIns="25400" rIns="25400" bIns="25400" rtlCol="0" anchor="t">
            <a:normAutofit/>
          </a:bodyPr>
          <a:lstStyle/>
          <a:p>
            <a:pPr algn="l" marL="214313" indent="-214313">
              <a:lnSpc>
                <a:spcPct val="170000"/>
              </a:lnSpc>
              <a:buSzPct val="100000"/>
              <a:buFont typeface="+mj-lt"/>
              <a:buAutoNum type="arabicPeriod" startAt="4"/>
            </a:pPr>
            <a:r>
              <a:rPr lang="en-US" sz="1125" b="1" dirty="0">
                <a:solidFill>
                  <a:srgbClr val="22272E"/>
                </a:solidFill>
                <a:latin typeface="Helvetica" pitchFamily="34" charset="0"/>
                <a:ea typeface="Helvetica" pitchFamily="34" charset="-122"/>
                <a:cs typeface="Helvetica" pitchFamily="34" charset="-120"/>
              </a:rPr>
              <a:t>Confirm &amp; diagnose </a:t>
            </a:r>
            <a:pPr algn="l" indent="0" marL="0">
              <a:lnSpc>
                <a:spcPct val="170000"/>
              </a:lnSpc>
              <a:buNone/>
            </a:pPr>
            <a:r>
              <a:rPr lang="en-US" sz="1125" dirty="0">
                <a:solidFill>
                  <a:srgbClr val="22272E"/>
                </a:solidFill>
                <a:latin typeface="Helvetica" pitchFamily="34" charset="0"/>
                <a:ea typeface="Helvetica" pitchFamily="34" charset="-122"/>
                <a:cs typeface="Helvetica" pitchFamily="34" charset="-120"/>
              </a:rPr>
              <a:t>— GPT confirms duplicates, surfaces the past resolution if one exists, and proposes a root cause and suggested fix.</a:t>
            </a:r>
            <a:endParaRPr lang="en-US" sz="1125" dirty="0"/>
          </a:p>
        </p:txBody>
      </p:sp>
      <p:sp>
        <p:nvSpPr>
          <p:cNvPr id="42" name="Text 39"/>
          <p:cNvSpPr/>
          <p:nvPr/>
        </p:nvSpPr>
        <p:spPr>
          <a:xfrm>
            <a:off x="706438" y="10235804"/>
            <a:ext cx="8167561" cy="280988"/>
          </a:xfrm>
          <a:prstGeom prst="rect">
            <a:avLst/>
          </a:prstGeom>
          <a:noFill/>
          <a:ln/>
        </p:spPr>
        <p:txBody>
          <a:bodyPr wrap="square" lIns="25400" tIns="25400" rIns="25400" bIns="25400" rtlCol="0" anchor="t">
            <a:normAutofit/>
          </a:bodyPr>
          <a:lstStyle/>
          <a:p>
            <a:pPr algn="l" marL="214313" indent="-214313">
              <a:lnSpc>
                <a:spcPct val="170000"/>
              </a:lnSpc>
              <a:buSzPct val="100000"/>
              <a:buFont typeface="+mj-lt"/>
              <a:buAutoNum type="arabicPeriod" startAt="5"/>
            </a:pPr>
            <a:r>
              <a:rPr lang="en-US" sz="1125" b="1" dirty="0">
                <a:solidFill>
                  <a:srgbClr val="22272E"/>
                </a:solidFill>
                <a:latin typeface="Helvetica" pitchFamily="34" charset="0"/>
                <a:ea typeface="Helvetica" pitchFamily="34" charset="-122"/>
                <a:cs typeface="Helvetica" pitchFamily="34" charset="-120"/>
              </a:rPr>
              <a:t>Write back </a:t>
            </a:r>
            <a:pPr algn="l" indent="0" marL="0">
              <a:lnSpc>
                <a:spcPct val="170000"/>
              </a:lnSpc>
              <a:buNone/>
            </a:pPr>
            <a:r>
              <a:rPr lang="en-US" sz="1125" dirty="0">
                <a:solidFill>
                  <a:srgbClr val="22272E"/>
                </a:solidFill>
                <a:latin typeface="Helvetica" pitchFamily="34" charset="0"/>
                <a:ea typeface="Helvetica" pitchFamily="34" charset="-122"/>
                <a:cs typeface="Helvetica" pitchFamily="34" charset="-120"/>
              </a:rPr>
              <a:t>— a triage comment, </a:t>
            </a:r>
            <a:pPr algn="l" indent="0" marL="0">
              <a:lnSpc>
                <a:spcPct val="170000"/>
              </a:lnSpc>
              <a:buNone/>
            </a:pPr>
            <a:r>
              <a:rPr lang="en-US" sz="975" dirty="0">
                <a:solidFill>
                  <a:srgbClr val="22272E"/>
                </a:solidFill>
                <a:highlight>
                  <a:srgbClr val="F4F5F7"/>
                </a:highlight>
                <a:latin typeface="Courier New" pitchFamily="34" charset="0"/>
                <a:ea typeface="Courier New" pitchFamily="34" charset="-122"/>
                <a:cs typeface="Courier New" pitchFamily="34" charset="-120"/>
              </a:rPr>
              <a:t>auto-triaged </a:t>
            </a:r>
            <a:pPr algn="l" indent="0" marL="0">
              <a:lnSpc>
                <a:spcPct val="170000"/>
              </a:lnSpc>
              <a:buNone/>
            </a:pPr>
            <a:r>
              <a:rPr lang="en-US" sz="1125" dirty="0">
                <a:solidFill>
                  <a:srgbClr val="22272E"/>
                </a:solidFill>
                <a:latin typeface="Helvetica" pitchFamily="34" charset="0"/>
                <a:ea typeface="Helvetica" pitchFamily="34" charset="-122"/>
                <a:cs typeface="Helvetica" pitchFamily="34" charset="-120"/>
              </a:rPr>
              <a:t>/ </a:t>
            </a:r>
            <a:pPr algn="l" indent="0" marL="0">
              <a:lnSpc>
                <a:spcPct val="170000"/>
              </a:lnSpc>
              <a:buNone/>
            </a:pPr>
            <a:r>
              <a:rPr lang="en-US" sz="975" dirty="0">
                <a:solidFill>
                  <a:srgbClr val="22272E"/>
                </a:solidFill>
                <a:highlight>
                  <a:srgbClr val="F4F5F7"/>
                </a:highlight>
                <a:latin typeface="Courier New" pitchFamily="34" charset="0"/>
                <a:ea typeface="Courier New" pitchFamily="34" charset="-122"/>
                <a:cs typeface="Courier New" pitchFamily="34" charset="-120"/>
              </a:rPr>
              <a:t>auto-dup </a:t>
            </a:r>
            <a:pPr algn="l" indent="0" marL="0">
              <a:lnSpc>
                <a:spcPct val="170000"/>
              </a:lnSpc>
              <a:buNone/>
            </a:pPr>
            <a:r>
              <a:rPr lang="en-US" sz="1125" dirty="0">
                <a:solidFill>
                  <a:srgbClr val="22272E"/>
                </a:solidFill>
                <a:latin typeface="Helvetica" pitchFamily="34" charset="0"/>
                <a:ea typeface="Helvetica" pitchFamily="34" charset="-122"/>
                <a:cs typeface="Helvetica" pitchFamily="34" charset="-120"/>
              </a:rPr>
              <a:t>labels, and a “Duplicate” issue link are posted to Jira.</a:t>
            </a:r>
            <a:endParaRPr lang="en-US" sz="1125" dirty="0"/>
          </a:p>
        </p:txBody>
      </p:sp>
      <p:sp>
        <p:nvSpPr>
          <p:cNvPr id="43" name="Shape 40"/>
          <p:cNvSpPr/>
          <p:nvPr/>
        </p:nvSpPr>
        <p:spPr>
          <a:xfrm>
            <a:off x="692150" y="11177191"/>
            <a:ext cx="7950200" cy="19050"/>
          </a:xfrm>
          <a:prstGeom prst="rect">
            <a:avLst/>
          </a:prstGeom>
          <a:solidFill>
            <a:srgbClr val="ECEEF1"/>
          </a:solidFill>
          <a:ln/>
        </p:spPr>
      </p:sp>
      <p:sp>
        <p:nvSpPr>
          <p:cNvPr id="44" name="Text 41"/>
          <p:cNvSpPr/>
          <p:nvPr/>
        </p:nvSpPr>
        <p:spPr>
          <a:xfrm>
            <a:off x="692150" y="10859691"/>
            <a:ext cx="8188706" cy="279400"/>
          </a:xfrm>
          <a:prstGeom prst="rect">
            <a:avLst/>
          </a:prstGeom>
          <a:noFill/>
          <a:ln/>
        </p:spPr>
        <p:txBody>
          <a:bodyPr wrap="square" lIns="25400" tIns="25400" rIns="25400" bIns="25400" rtlCol="0" anchor="t">
            <a:normAutofit/>
          </a:bodyPr>
          <a:lstStyle/>
          <a:p>
            <a:pPr algn="l" indent="0" marL="0">
              <a:buNone/>
            </a:pPr>
            <a:r>
              <a:rPr lang="en-US" sz="1650" b="1" dirty="0">
                <a:solidFill>
                  <a:srgbClr val="22272E"/>
                </a:solidFill>
                <a:latin typeface="Helvetica" pitchFamily="34" charset="0"/>
                <a:ea typeface="Helvetica" pitchFamily="34" charset="-122"/>
                <a:cs typeface="Helvetica" pitchFamily="34" charset="-120"/>
              </a:rPr>
              <a:t>Components</a:t>
            </a:r>
            <a:endParaRPr lang="en-US" sz="1650" dirty="0"/>
          </a:p>
        </p:txBody>
      </p:sp>
      <p:sp>
        <p:nvSpPr>
          <p:cNvPr id="45" name="Shape 42"/>
          <p:cNvSpPr/>
          <p:nvPr/>
        </p:nvSpPr>
        <p:spPr>
          <a:xfrm>
            <a:off x="692150" y="12057262"/>
            <a:ext cx="7950200" cy="9525"/>
          </a:xfrm>
          <a:prstGeom prst="rect">
            <a:avLst/>
          </a:prstGeom>
          <a:solidFill>
            <a:srgbClr val="ECEEF1"/>
          </a:solidFill>
          <a:ln/>
        </p:spPr>
      </p:sp>
      <p:sp>
        <p:nvSpPr>
          <p:cNvPr id="46" name="Text 43"/>
          <p:cNvSpPr/>
          <p:nvPr/>
        </p:nvSpPr>
        <p:spPr>
          <a:xfrm>
            <a:off x="692150" y="11481991"/>
            <a:ext cx="2305050" cy="190500"/>
          </a:xfrm>
          <a:prstGeom prst="rect">
            <a:avLst/>
          </a:prstGeom>
          <a:noFill/>
          <a:ln/>
        </p:spPr>
        <p:txBody>
          <a:bodyPr wrap="square" lIns="25400" tIns="25400" rIns="25400" bIns="25400" rtlCol="0" anchor="t">
            <a:normAutofit/>
          </a:bodyPr>
          <a:lstStyle/>
          <a:p>
            <a:pPr algn="l" indent="0" marL="0">
              <a:buNone/>
            </a:pPr>
            <a:r>
              <a:rPr lang="en-US" sz="1050" b="1" dirty="0">
                <a:solidFill>
                  <a:srgbClr val="22272E"/>
                </a:solidFill>
                <a:latin typeface="Courier New" pitchFamily="34" charset="0"/>
                <a:ea typeface="Courier New" pitchFamily="34" charset="-122"/>
                <a:cs typeface="Courier New" pitchFamily="34" charset="-120"/>
              </a:rPr>
              <a:t>main.py</a:t>
            </a:r>
            <a:endParaRPr lang="en-US" sz="1050" dirty="0"/>
          </a:p>
        </p:txBody>
      </p:sp>
      <p:sp>
        <p:nvSpPr>
          <p:cNvPr id="47" name="Text 44"/>
          <p:cNvSpPr/>
          <p:nvPr/>
        </p:nvSpPr>
        <p:spPr>
          <a:xfrm>
            <a:off x="692150" y="11662966"/>
            <a:ext cx="2305050" cy="171450"/>
          </a:xfrm>
          <a:prstGeom prst="rect">
            <a:avLst/>
          </a:prstGeom>
          <a:noFill/>
          <a:ln/>
        </p:spPr>
        <p:txBody>
          <a:bodyPr wrap="square" lIns="25400" tIns="25400" rIns="25400" bIns="25400" rtlCol="0" anchor="t">
            <a:normAutofit/>
          </a:bodyPr>
          <a:lstStyle/>
          <a:p>
            <a:pPr algn="l" indent="0" marL="0">
              <a:buNone/>
            </a:pPr>
            <a:r>
              <a:rPr lang="en-US" sz="900" dirty="0">
                <a:solidFill>
                  <a:srgbClr val="7A8592"/>
                </a:solidFill>
                <a:latin typeface="Helvetica" pitchFamily="34" charset="0"/>
                <a:ea typeface="Helvetica" pitchFamily="34" charset="-122"/>
                <a:cs typeface="Helvetica" pitchFamily="34" charset="-120"/>
              </a:rPr>
              <a:t>CLI entry point</a:t>
            </a:r>
            <a:endParaRPr lang="en-US" sz="900" dirty="0"/>
          </a:p>
        </p:txBody>
      </p:sp>
      <p:sp>
        <p:nvSpPr>
          <p:cNvPr id="48" name="Text 45"/>
          <p:cNvSpPr/>
          <p:nvPr/>
        </p:nvSpPr>
        <p:spPr>
          <a:xfrm>
            <a:off x="2978150" y="11481991"/>
            <a:ext cx="5834126" cy="480020"/>
          </a:xfrm>
          <a:prstGeom prst="rect">
            <a:avLst/>
          </a:prstGeom>
          <a:noFill/>
          <a:ln/>
        </p:spPr>
        <p:txBody>
          <a:bodyPr wrap="square" lIns="25400" tIns="25400" rIns="25400" bIns="25400" rtlCol="0" anchor="t">
            <a:normAutofit/>
          </a:bodyPr>
          <a:lstStyle/>
          <a:p>
            <a:pPr algn="l" indent="0" marL="0">
              <a:lnSpc>
                <a:spcPct val="160000"/>
              </a:lnSpc>
              <a:buNone/>
            </a:pPr>
            <a:r>
              <a:rPr lang="en-US" sz="1088" dirty="0">
                <a:solidFill>
                  <a:srgbClr val="3A4450"/>
                </a:solidFill>
                <a:latin typeface="Helvetica" pitchFamily="34" charset="0"/>
                <a:ea typeface="Helvetica" pitchFamily="34" charset="-122"/>
                <a:cs typeface="Helvetica" pitchFamily="34" charset="-120"/>
              </a:rPr>
              <a:t>Parses CLI flags (--once, --poll, --issues, --dry-run) and schedules triage cycles at the configured polling interval.</a:t>
            </a:r>
            <a:endParaRPr lang="en-US" sz="1088" dirty="0"/>
          </a:p>
        </p:txBody>
      </p:sp>
      <p:sp>
        <p:nvSpPr>
          <p:cNvPr id="49" name="Shape 46"/>
          <p:cNvSpPr/>
          <p:nvPr/>
        </p:nvSpPr>
        <p:spPr>
          <a:xfrm>
            <a:off x="692150" y="12772232"/>
            <a:ext cx="7950200" cy="9525"/>
          </a:xfrm>
          <a:prstGeom prst="rect">
            <a:avLst/>
          </a:prstGeom>
          <a:solidFill>
            <a:srgbClr val="ECEEF1"/>
          </a:solidFill>
          <a:ln/>
        </p:spPr>
      </p:sp>
      <p:sp>
        <p:nvSpPr>
          <p:cNvPr id="50" name="Text 47"/>
          <p:cNvSpPr/>
          <p:nvPr/>
        </p:nvSpPr>
        <p:spPr>
          <a:xfrm>
            <a:off x="692150" y="12196962"/>
            <a:ext cx="2305050" cy="190500"/>
          </a:xfrm>
          <a:prstGeom prst="rect">
            <a:avLst/>
          </a:prstGeom>
          <a:noFill/>
          <a:ln/>
        </p:spPr>
        <p:txBody>
          <a:bodyPr wrap="square" lIns="25400" tIns="25400" rIns="25400" bIns="25400" rtlCol="0" anchor="t">
            <a:normAutofit/>
          </a:bodyPr>
          <a:lstStyle/>
          <a:p>
            <a:pPr algn="l" indent="0" marL="0">
              <a:buNone/>
            </a:pPr>
            <a:r>
              <a:rPr lang="en-US" sz="1050" b="1" dirty="0">
                <a:solidFill>
                  <a:srgbClr val="22272E"/>
                </a:solidFill>
                <a:latin typeface="Courier New" pitchFamily="34" charset="0"/>
                <a:ea typeface="Courier New" pitchFamily="34" charset="-122"/>
                <a:cs typeface="Courier New" pitchFamily="34" charset="-120"/>
              </a:rPr>
              <a:t>engine.py</a:t>
            </a:r>
            <a:endParaRPr lang="en-US" sz="1050" dirty="0"/>
          </a:p>
        </p:txBody>
      </p:sp>
      <p:sp>
        <p:nvSpPr>
          <p:cNvPr id="51" name="Text 48"/>
          <p:cNvSpPr/>
          <p:nvPr/>
        </p:nvSpPr>
        <p:spPr>
          <a:xfrm>
            <a:off x="692150" y="12377937"/>
            <a:ext cx="2305050" cy="171450"/>
          </a:xfrm>
          <a:prstGeom prst="rect">
            <a:avLst/>
          </a:prstGeom>
          <a:noFill/>
          <a:ln/>
        </p:spPr>
        <p:txBody>
          <a:bodyPr wrap="square" lIns="25400" tIns="25400" rIns="25400" bIns="25400" rtlCol="0" anchor="t">
            <a:normAutofit/>
          </a:bodyPr>
          <a:lstStyle/>
          <a:p>
            <a:pPr algn="l" indent="0" marL="0">
              <a:buNone/>
            </a:pPr>
            <a:r>
              <a:rPr lang="en-US" sz="900" dirty="0">
                <a:solidFill>
                  <a:srgbClr val="7A8592"/>
                </a:solidFill>
                <a:latin typeface="Helvetica" pitchFamily="34" charset="0"/>
                <a:ea typeface="Helvetica" pitchFamily="34" charset="-122"/>
                <a:cs typeface="Helvetica" pitchFamily="34" charset="-120"/>
              </a:rPr>
              <a:t>Orchestrator</a:t>
            </a:r>
            <a:endParaRPr lang="en-US" sz="900" dirty="0"/>
          </a:p>
        </p:txBody>
      </p:sp>
      <p:sp>
        <p:nvSpPr>
          <p:cNvPr id="52" name="Text 49"/>
          <p:cNvSpPr/>
          <p:nvPr/>
        </p:nvSpPr>
        <p:spPr>
          <a:xfrm>
            <a:off x="2978150" y="12196962"/>
            <a:ext cx="5834126" cy="480020"/>
          </a:xfrm>
          <a:prstGeom prst="rect">
            <a:avLst/>
          </a:prstGeom>
          <a:noFill/>
          <a:ln/>
        </p:spPr>
        <p:txBody>
          <a:bodyPr wrap="square" lIns="25400" tIns="25400" rIns="25400" bIns="25400" rtlCol="0" anchor="t">
            <a:normAutofit/>
          </a:bodyPr>
          <a:lstStyle/>
          <a:p>
            <a:pPr algn="l" indent="0" marL="0">
              <a:lnSpc>
                <a:spcPct val="160000"/>
              </a:lnSpc>
              <a:buNone/>
            </a:pPr>
            <a:r>
              <a:rPr lang="en-US" sz="1088" dirty="0">
                <a:solidFill>
                  <a:srgbClr val="3A4450"/>
                </a:solidFill>
                <a:latin typeface="Helvetica" pitchFamily="34" charset="0"/>
                <a:ea typeface="Helvetica" pitchFamily="34" charset="-122"/>
                <a:cs typeface="Helvetica" pitchFamily="34" charset="-120"/>
              </a:rPr>
              <a:t>Coordinates the full pipeline per defect: fetch → analyze → decide → write-back. Honors dry-run mode by skipping all Jira writes.</a:t>
            </a:r>
            <a:endParaRPr lang="en-US" sz="1088" dirty="0"/>
          </a:p>
        </p:txBody>
      </p:sp>
      <p:sp>
        <p:nvSpPr>
          <p:cNvPr id="53" name="Shape 50"/>
          <p:cNvSpPr/>
          <p:nvPr/>
        </p:nvSpPr>
        <p:spPr>
          <a:xfrm>
            <a:off x="692150" y="13487202"/>
            <a:ext cx="7950200" cy="9525"/>
          </a:xfrm>
          <a:prstGeom prst="rect">
            <a:avLst/>
          </a:prstGeom>
          <a:solidFill>
            <a:srgbClr val="ECEEF1"/>
          </a:solidFill>
          <a:ln/>
        </p:spPr>
      </p:sp>
      <p:sp>
        <p:nvSpPr>
          <p:cNvPr id="54" name="Text 51"/>
          <p:cNvSpPr/>
          <p:nvPr/>
        </p:nvSpPr>
        <p:spPr>
          <a:xfrm>
            <a:off x="692150" y="12911932"/>
            <a:ext cx="2305050" cy="190500"/>
          </a:xfrm>
          <a:prstGeom prst="rect">
            <a:avLst/>
          </a:prstGeom>
          <a:noFill/>
          <a:ln/>
        </p:spPr>
        <p:txBody>
          <a:bodyPr wrap="square" lIns="25400" tIns="25400" rIns="25400" bIns="25400" rtlCol="0" anchor="t">
            <a:normAutofit/>
          </a:bodyPr>
          <a:lstStyle/>
          <a:p>
            <a:pPr algn="l" indent="0" marL="0">
              <a:buNone/>
            </a:pPr>
            <a:r>
              <a:rPr lang="en-US" sz="1050" b="1" dirty="0">
                <a:solidFill>
                  <a:srgbClr val="22272E"/>
                </a:solidFill>
                <a:latin typeface="Courier New" pitchFamily="34" charset="0"/>
                <a:ea typeface="Courier New" pitchFamily="34" charset="-122"/>
                <a:cs typeface="Courier New" pitchFamily="34" charset="-120"/>
              </a:rPr>
              <a:t>jira_client.py</a:t>
            </a:r>
            <a:endParaRPr lang="en-US" sz="1050" dirty="0"/>
          </a:p>
        </p:txBody>
      </p:sp>
      <p:sp>
        <p:nvSpPr>
          <p:cNvPr id="55" name="Text 52"/>
          <p:cNvSpPr/>
          <p:nvPr/>
        </p:nvSpPr>
        <p:spPr>
          <a:xfrm>
            <a:off x="692150" y="13092907"/>
            <a:ext cx="2305050" cy="171450"/>
          </a:xfrm>
          <a:prstGeom prst="rect">
            <a:avLst/>
          </a:prstGeom>
          <a:noFill/>
          <a:ln/>
        </p:spPr>
        <p:txBody>
          <a:bodyPr wrap="square" lIns="25400" tIns="25400" rIns="25400" bIns="25400" rtlCol="0" anchor="t">
            <a:normAutofit/>
          </a:bodyPr>
          <a:lstStyle/>
          <a:p>
            <a:pPr algn="l" indent="0" marL="0">
              <a:buNone/>
            </a:pPr>
            <a:r>
              <a:rPr lang="en-US" sz="900" dirty="0">
                <a:solidFill>
                  <a:srgbClr val="7A8592"/>
                </a:solidFill>
                <a:latin typeface="Helvetica" pitchFamily="34" charset="0"/>
                <a:ea typeface="Helvetica" pitchFamily="34" charset="-122"/>
                <a:cs typeface="Helvetica" pitchFamily="34" charset="-120"/>
              </a:rPr>
              <a:t>Jira integration</a:t>
            </a:r>
            <a:endParaRPr lang="en-US" sz="900" dirty="0"/>
          </a:p>
        </p:txBody>
      </p:sp>
      <p:sp>
        <p:nvSpPr>
          <p:cNvPr id="56" name="Text 53"/>
          <p:cNvSpPr/>
          <p:nvPr/>
        </p:nvSpPr>
        <p:spPr>
          <a:xfrm>
            <a:off x="2978150" y="12911932"/>
            <a:ext cx="5834126" cy="480020"/>
          </a:xfrm>
          <a:prstGeom prst="rect">
            <a:avLst/>
          </a:prstGeom>
          <a:noFill/>
          <a:ln/>
        </p:spPr>
        <p:txBody>
          <a:bodyPr wrap="square" lIns="25400" tIns="25400" rIns="25400" bIns="25400" rtlCol="0" anchor="t">
            <a:normAutofit/>
          </a:bodyPr>
          <a:lstStyle/>
          <a:p>
            <a:pPr algn="l" indent="0" marL="0">
              <a:lnSpc>
                <a:spcPct val="160000"/>
              </a:lnSpc>
              <a:buNone/>
            </a:pPr>
            <a:r>
              <a:rPr lang="en-US" sz="1088" dirty="0">
                <a:solidFill>
                  <a:srgbClr val="3A4450"/>
                </a:solidFill>
                <a:latin typeface="Helvetica" pitchFamily="34" charset="0"/>
                <a:ea typeface="Helvetica" pitchFamily="34" charset="-122"/>
                <a:cs typeface="Helvetica" pitchFamily="34" charset="-120"/>
              </a:rPr>
              <a:t>Wraps Jira Cloud REST API v3: JQL search, downloading attachments, reading comments, and applying labels and issue links.</a:t>
            </a:r>
            <a:endParaRPr lang="en-US" sz="1088" dirty="0"/>
          </a:p>
        </p:txBody>
      </p:sp>
      <p:sp>
        <p:nvSpPr>
          <p:cNvPr id="57" name="Shape 54"/>
          <p:cNvSpPr/>
          <p:nvPr/>
        </p:nvSpPr>
        <p:spPr>
          <a:xfrm>
            <a:off x="692150" y="14202173"/>
            <a:ext cx="7950200" cy="9525"/>
          </a:xfrm>
          <a:prstGeom prst="rect">
            <a:avLst/>
          </a:prstGeom>
          <a:solidFill>
            <a:srgbClr val="ECEEF1"/>
          </a:solidFill>
          <a:ln/>
        </p:spPr>
      </p:sp>
      <p:sp>
        <p:nvSpPr>
          <p:cNvPr id="58" name="Text 55"/>
          <p:cNvSpPr/>
          <p:nvPr/>
        </p:nvSpPr>
        <p:spPr>
          <a:xfrm>
            <a:off x="692150" y="13626902"/>
            <a:ext cx="2305050" cy="190500"/>
          </a:xfrm>
          <a:prstGeom prst="rect">
            <a:avLst/>
          </a:prstGeom>
          <a:noFill/>
          <a:ln/>
        </p:spPr>
        <p:txBody>
          <a:bodyPr wrap="square" lIns="25400" tIns="25400" rIns="25400" bIns="25400" rtlCol="0" anchor="t">
            <a:normAutofit/>
          </a:bodyPr>
          <a:lstStyle/>
          <a:p>
            <a:pPr algn="l" indent="0" marL="0">
              <a:buNone/>
            </a:pPr>
            <a:r>
              <a:rPr lang="en-US" sz="1050" b="1" dirty="0">
                <a:solidFill>
                  <a:srgbClr val="22272E"/>
                </a:solidFill>
                <a:latin typeface="Courier New" pitchFamily="34" charset="0"/>
                <a:ea typeface="Courier New" pitchFamily="34" charset="-122"/>
                <a:cs typeface="Courier New" pitchFamily="34" charset="-120"/>
              </a:rPr>
              <a:t>similarity.py</a:t>
            </a:r>
            <a:endParaRPr lang="en-US" sz="1050" dirty="0"/>
          </a:p>
        </p:txBody>
      </p:sp>
      <p:sp>
        <p:nvSpPr>
          <p:cNvPr id="59" name="Text 56"/>
          <p:cNvSpPr/>
          <p:nvPr/>
        </p:nvSpPr>
        <p:spPr>
          <a:xfrm>
            <a:off x="692150" y="13807877"/>
            <a:ext cx="2305050" cy="171450"/>
          </a:xfrm>
          <a:prstGeom prst="rect">
            <a:avLst/>
          </a:prstGeom>
          <a:noFill/>
          <a:ln/>
        </p:spPr>
        <p:txBody>
          <a:bodyPr wrap="square" lIns="25400" tIns="25400" rIns="25400" bIns="25400" rtlCol="0" anchor="t">
            <a:normAutofit/>
          </a:bodyPr>
          <a:lstStyle/>
          <a:p>
            <a:pPr algn="l" indent="0" marL="0">
              <a:buNone/>
            </a:pPr>
            <a:r>
              <a:rPr lang="en-US" sz="900" dirty="0">
                <a:solidFill>
                  <a:srgbClr val="7A8592"/>
                </a:solidFill>
                <a:latin typeface="Helvetica" pitchFamily="34" charset="0"/>
                <a:ea typeface="Helvetica" pitchFamily="34" charset="-122"/>
                <a:cs typeface="Helvetica" pitchFamily="34" charset="-120"/>
              </a:rPr>
              <a:t>Duplicate retrieval</a:t>
            </a:r>
            <a:endParaRPr lang="en-US" sz="900" dirty="0"/>
          </a:p>
        </p:txBody>
      </p:sp>
      <p:sp>
        <p:nvSpPr>
          <p:cNvPr id="60" name="Text 57"/>
          <p:cNvSpPr/>
          <p:nvPr/>
        </p:nvSpPr>
        <p:spPr>
          <a:xfrm>
            <a:off x="2978150" y="13626902"/>
            <a:ext cx="5834126" cy="480020"/>
          </a:xfrm>
          <a:prstGeom prst="rect">
            <a:avLst/>
          </a:prstGeom>
          <a:noFill/>
          <a:ln/>
        </p:spPr>
        <p:txBody>
          <a:bodyPr wrap="square" lIns="25400" tIns="25400" rIns="25400" bIns="25400" rtlCol="0" anchor="t">
            <a:normAutofit/>
          </a:bodyPr>
          <a:lstStyle/>
          <a:p>
            <a:pPr algn="l" indent="0" marL="0">
              <a:lnSpc>
                <a:spcPct val="160000"/>
              </a:lnSpc>
              <a:buNone/>
            </a:pPr>
            <a:r>
              <a:rPr lang="en-US" sz="1088" dirty="0">
                <a:solidFill>
                  <a:srgbClr val="3A4450"/>
                </a:solidFill>
                <a:latin typeface="Helvetica" pitchFamily="34" charset="0"/>
                <a:ea typeface="Helvetica" pitchFamily="34" charset="-122"/>
                <a:cs typeface="Helvetica" pitchFamily="34" charset="-120"/>
              </a:rPr>
              <a:t>Fast fuzzy ranking (rapidfuzz) of the new defect against the entire defect corpus, producing top-K duplicate candidates for AI confirmation.</a:t>
            </a:r>
            <a:endParaRPr lang="en-US" sz="1088" dirty="0"/>
          </a:p>
        </p:txBody>
      </p:sp>
      <p:sp>
        <p:nvSpPr>
          <p:cNvPr id="61" name="Shape 58"/>
          <p:cNvSpPr/>
          <p:nvPr/>
        </p:nvSpPr>
        <p:spPr>
          <a:xfrm>
            <a:off x="692150" y="14917143"/>
            <a:ext cx="7950200" cy="9525"/>
          </a:xfrm>
          <a:prstGeom prst="rect">
            <a:avLst/>
          </a:prstGeom>
          <a:solidFill>
            <a:srgbClr val="ECEEF1"/>
          </a:solidFill>
          <a:ln/>
        </p:spPr>
      </p:sp>
      <p:sp>
        <p:nvSpPr>
          <p:cNvPr id="62" name="Text 59"/>
          <p:cNvSpPr/>
          <p:nvPr/>
        </p:nvSpPr>
        <p:spPr>
          <a:xfrm>
            <a:off x="692150" y="14341873"/>
            <a:ext cx="2305050" cy="190500"/>
          </a:xfrm>
          <a:prstGeom prst="rect">
            <a:avLst/>
          </a:prstGeom>
          <a:noFill/>
          <a:ln/>
        </p:spPr>
        <p:txBody>
          <a:bodyPr wrap="square" lIns="25400" tIns="25400" rIns="25400" bIns="25400" rtlCol="0" anchor="t">
            <a:normAutofit/>
          </a:bodyPr>
          <a:lstStyle/>
          <a:p>
            <a:pPr algn="l" indent="0" marL="0">
              <a:buNone/>
            </a:pPr>
            <a:r>
              <a:rPr lang="en-US" sz="1050" b="1" dirty="0">
                <a:solidFill>
                  <a:srgbClr val="22272E"/>
                </a:solidFill>
                <a:latin typeface="Courier New" pitchFamily="34" charset="0"/>
                <a:ea typeface="Courier New" pitchFamily="34" charset="-122"/>
                <a:cs typeface="Courier New" pitchFamily="34" charset="-120"/>
              </a:rPr>
              <a:t>analyzer.py</a:t>
            </a:r>
            <a:endParaRPr lang="en-US" sz="1050" dirty="0"/>
          </a:p>
        </p:txBody>
      </p:sp>
      <p:sp>
        <p:nvSpPr>
          <p:cNvPr id="63" name="Text 60"/>
          <p:cNvSpPr/>
          <p:nvPr/>
        </p:nvSpPr>
        <p:spPr>
          <a:xfrm>
            <a:off x="692150" y="14522848"/>
            <a:ext cx="2305050" cy="171450"/>
          </a:xfrm>
          <a:prstGeom prst="rect">
            <a:avLst/>
          </a:prstGeom>
          <a:noFill/>
          <a:ln/>
        </p:spPr>
        <p:txBody>
          <a:bodyPr wrap="square" lIns="25400" tIns="25400" rIns="25400" bIns="25400" rtlCol="0" anchor="t">
            <a:normAutofit/>
          </a:bodyPr>
          <a:lstStyle/>
          <a:p>
            <a:pPr algn="l" indent="0" marL="0">
              <a:buNone/>
            </a:pPr>
            <a:r>
              <a:rPr lang="en-US" sz="900" dirty="0">
                <a:solidFill>
                  <a:srgbClr val="7A8592"/>
                </a:solidFill>
                <a:latin typeface="Helvetica" pitchFamily="34" charset="0"/>
                <a:ea typeface="Helvetica" pitchFamily="34" charset="-122"/>
                <a:cs typeface="Helvetica" pitchFamily="34" charset="-120"/>
              </a:rPr>
              <a:t>AI analysis</a:t>
            </a:r>
            <a:endParaRPr lang="en-US" sz="900" dirty="0"/>
          </a:p>
        </p:txBody>
      </p:sp>
      <p:sp>
        <p:nvSpPr>
          <p:cNvPr id="64" name="Text 61"/>
          <p:cNvSpPr/>
          <p:nvPr/>
        </p:nvSpPr>
        <p:spPr>
          <a:xfrm>
            <a:off x="2978150" y="14341873"/>
            <a:ext cx="5834126" cy="480020"/>
          </a:xfrm>
          <a:prstGeom prst="rect">
            <a:avLst/>
          </a:prstGeom>
          <a:noFill/>
          <a:ln/>
        </p:spPr>
        <p:txBody>
          <a:bodyPr wrap="square" lIns="25400" tIns="25400" rIns="25400" bIns="25400" rtlCol="0" anchor="t">
            <a:normAutofit/>
          </a:bodyPr>
          <a:lstStyle/>
          <a:p>
            <a:pPr algn="l" indent="0" marL="0">
              <a:lnSpc>
                <a:spcPct val="160000"/>
              </a:lnSpc>
              <a:buNone/>
            </a:pPr>
            <a:r>
              <a:rPr lang="en-US" sz="1088" dirty="0">
                <a:solidFill>
                  <a:srgbClr val="3A4450"/>
                </a:solidFill>
                <a:latin typeface="Helvetica" pitchFamily="34" charset="0"/>
                <a:ea typeface="Helvetica" pitchFamily="34" charset="-122"/>
                <a:cs typeface="Helvetica" pitchFamily="34" charset="-120"/>
              </a:rPr>
              <a:t>All OpenAI API calls: vision analysis of screenshot attachments, duplicate confirmation against candidates, and root-cause + suggested-fix generation.</a:t>
            </a:r>
            <a:endParaRPr lang="en-US" sz="1088" dirty="0"/>
          </a:p>
        </p:txBody>
      </p:sp>
      <p:sp>
        <p:nvSpPr>
          <p:cNvPr id="65" name="Shape 62"/>
          <p:cNvSpPr/>
          <p:nvPr/>
        </p:nvSpPr>
        <p:spPr>
          <a:xfrm>
            <a:off x="692150" y="15632113"/>
            <a:ext cx="7950200" cy="9525"/>
          </a:xfrm>
          <a:prstGeom prst="rect">
            <a:avLst/>
          </a:prstGeom>
          <a:solidFill>
            <a:srgbClr val="ECEEF1"/>
          </a:solidFill>
          <a:ln/>
        </p:spPr>
      </p:sp>
      <p:sp>
        <p:nvSpPr>
          <p:cNvPr id="66" name="Text 63"/>
          <p:cNvSpPr/>
          <p:nvPr/>
        </p:nvSpPr>
        <p:spPr>
          <a:xfrm>
            <a:off x="692150" y="15056843"/>
            <a:ext cx="2305050" cy="190500"/>
          </a:xfrm>
          <a:prstGeom prst="rect">
            <a:avLst/>
          </a:prstGeom>
          <a:noFill/>
          <a:ln/>
        </p:spPr>
        <p:txBody>
          <a:bodyPr wrap="square" lIns="25400" tIns="25400" rIns="25400" bIns="25400" rtlCol="0" anchor="t">
            <a:normAutofit/>
          </a:bodyPr>
          <a:lstStyle/>
          <a:p>
            <a:pPr algn="l" indent="0" marL="0">
              <a:buNone/>
            </a:pPr>
            <a:r>
              <a:rPr lang="en-US" sz="1050" b="1" dirty="0">
                <a:solidFill>
                  <a:srgbClr val="22272E"/>
                </a:solidFill>
                <a:latin typeface="Courier New" pitchFamily="34" charset="0"/>
                <a:ea typeface="Courier New" pitchFamily="34" charset="-122"/>
                <a:cs typeface="Courier New" pitchFamily="34" charset="-120"/>
              </a:rPr>
              <a:t>reporter.py</a:t>
            </a:r>
            <a:endParaRPr lang="en-US" sz="1050" dirty="0"/>
          </a:p>
        </p:txBody>
      </p:sp>
      <p:sp>
        <p:nvSpPr>
          <p:cNvPr id="67" name="Text 64"/>
          <p:cNvSpPr/>
          <p:nvPr/>
        </p:nvSpPr>
        <p:spPr>
          <a:xfrm>
            <a:off x="692150" y="15237818"/>
            <a:ext cx="2305050" cy="171450"/>
          </a:xfrm>
          <a:prstGeom prst="rect">
            <a:avLst/>
          </a:prstGeom>
          <a:noFill/>
          <a:ln/>
        </p:spPr>
        <p:txBody>
          <a:bodyPr wrap="square" lIns="25400" tIns="25400" rIns="25400" bIns="25400" rtlCol="0" anchor="t">
            <a:normAutofit/>
          </a:bodyPr>
          <a:lstStyle/>
          <a:p>
            <a:pPr algn="l" indent="0" marL="0">
              <a:buNone/>
            </a:pPr>
            <a:r>
              <a:rPr lang="en-US" sz="900" dirty="0">
                <a:solidFill>
                  <a:srgbClr val="7A8592"/>
                </a:solidFill>
                <a:latin typeface="Helvetica" pitchFamily="34" charset="0"/>
                <a:ea typeface="Helvetica" pitchFamily="34" charset="-122"/>
                <a:cs typeface="Helvetica" pitchFamily="34" charset="-120"/>
              </a:rPr>
              <a:t>Output formatting</a:t>
            </a:r>
            <a:endParaRPr lang="en-US" sz="900" dirty="0"/>
          </a:p>
        </p:txBody>
      </p:sp>
      <p:sp>
        <p:nvSpPr>
          <p:cNvPr id="68" name="Text 65"/>
          <p:cNvSpPr/>
          <p:nvPr/>
        </p:nvSpPr>
        <p:spPr>
          <a:xfrm>
            <a:off x="2978150" y="15056843"/>
            <a:ext cx="5834126" cy="480020"/>
          </a:xfrm>
          <a:prstGeom prst="rect">
            <a:avLst/>
          </a:prstGeom>
          <a:noFill/>
          <a:ln/>
        </p:spPr>
        <p:txBody>
          <a:bodyPr wrap="square" lIns="25400" tIns="25400" rIns="25400" bIns="25400" rtlCol="0" anchor="t">
            <a:normAutofit/>
          </a:bodyPr>
          <a:lstStyle/>
          <a:p>
            <a:pPr algn="l" indent="0" marL="0">
              <a:lnSpc>
                <a:spcPct val="160000"/>
              </a:lnSpc>
              <a:buNone/>
            </a:pPr>
            <a:r>
              <a:rPr lang="en-US" sz="1088" dirty="0">
                <a:solidFill>
                  <a:srgbClr val="3A4450"/>
                </a:solidFill>
                <a:latin typeface="Helvetica" pitchFamily="34" charset="0"/>
                <a:ea typeface="Helvetica" pitchFamily="34" charset="-122"/>
                <a:cs typeface="Helvetica" pitchFamily="34" charset="-120"/>
              </a:rPr>
              <a:t>Formats the analysis results into the structured triage comment that gets posted back to the Jira issue.</a:t>
            </a:r>
            <a:endParaRPr lang="en-US" sz="1088" dirty="0"/>
          </a:p>
        </p:txBody>
      </p:sp>
      <p:sp>
        <p:nvSpPr>
          <p:cNvPr id="69" name="Shape 66"/>
          <p:cNvSpPr/>
          <p:nvPr/>
        </p:nvSpPr>
        <p:spPr>
          <a:xfrm>
            <a:off x="692150" y="16347084"/>
            <a:ext cx="7950200" cy="9525"/>
          </a:xfrm>
          <a:prstGeom prst="rect">
            <a:avLst/>
          </a:prstGeom>
          <a:solidFill>
            <a:srgbClr val="ECEEF1"/>
          </a:solidFill>
          <a:ln/>
        </p:spPr>
      </p:sp>
      <p:sp>
        <p:nvSpPr>
          <p:cNvPr id="70" name="Text 67"/>
          <p:cNvSpPr/>
          <p:nvPr/>
        </p:nvSpPr>
        <p:spPr>
          <a:xfrm>
            <a:off x="692150" y="15771813"/>
            <a:ext cx="2305050" cy="190500"/>
          </a:xfrm>
          <a:prstGeom prst="rect">
            <a:avLst/>
          </a:prstGeom>
          <a:noFill/>
          <a:ln/>
        </p:spPr>
        <p:txBody>
          <a:bodyPr wrap="square" lIns="25400" tIns="25400" rIns="25400" bIns="25400" rtlCol="0" anchor="t">
            <a:normAutofit/>
          </a:bodyPr>
          <a:lstStyle/>
          <a:p>
            <a:pPr algn="l" indent="0" marL="0">
              <a:buNone/>
            </a:pPr>
            <a:r>
              <a:rPr lang="en-US" sz="1050" b="1" dirty="0">
                <a:solidFill>
                  <a:srgbClr val="22272E"/>
                </a:solidFill>
                <a:latin typeface="Courier New" pitchFamily="34" charset="0"/>
                <a:ea typeface="Courier New" pitchFamily="34" charset="-122"/>
                <a:cs typeface="Courier New" pitchFamily="34" charset="-120"/>
              </a:rPr>
              <a:t>state.py</a:t>
            </a:r>
            <a:endParaRPr lang="en-US" sz="1050" dirty="0"/>
          </a:p>
        </p:txBody>
      </p:sp>
      <p:sp>
        <p:nvSpPr>
          <p:cNvPr id="71" name="Text 68"/>
          <p:cNvSpPr/>
          <p:nvPr/>
        </p:nvSpPr>
        <p:spPr>
          <a:xfrm>
            <a:off x="692150" y="15952788"/>
            <a:ext cx="2305050" cy="171450"/>
          </a:xfrm>
          <a:prstGeom prst="rect">
            <a:avLst/>
          </a:prstGeom>
          <a:noFill/>
          <a:ln/>
        </p:spPr>
        <p:txBody>
          <a:bodyPr wrap="square" lIns="25400" tIns="25400" rIns="25400" bIns="25400" rtlCol="0" anchor="t">
            <a:normAutofit/>
          </a:bodyPr>
          <a:lstStyle/>
          <a:p>
            <a:pPr algn="l" indent="0" marL="0">
              <a:buNone/>
            </a:pPr>
            <a:r>
              <a:rPr lang="en-US" sz="900" dirty="0">
                <a:solidFill>
                  <a:srgbClr val="7A8592"/>
                </a:solidFill>
                <a:latin typeface="Helvetica" pitchFamily="34" charset="0"/>
                <a:ea typeface="Helvetica" pitchFamily="34" charset="-122"/>
                <a:cs typeface="Helvetica" pitchFamily="34" charset="-120"/>
              </a:rPr>
              <a:t>Processed-issue tracking</a:t>
            </a:r>
            <a:endParaRPr lang="en-US" sz="900" dirty="0"/>
          </a:p>
        </p:txBody>
      </p:sp>
      <p:sp>
        <p:nvSpPr>
          <p:cNvPr id="72" name="Text 69"/>
          <p:cNvSpPr/>
          <p:nvPr/>
        </p:nvSpPr>
        <p:spPr>
          <a:xfrm>
            <a:off x="2978150" y="15771813"/>
            <a:ext cx="5834126" cy="480020"/>
          </a:xfrm>
          <a:prstGeom prst="rect">
            <a:avLst/>
          </a:prstGeom>
          <a:noFill/>
          <a:ln/>
        </p:spPr>
        <p:txBody>
          <a:bodyPr wrap="square" lIns="25400" tIns="25400" rIns="25400" bIns="25400" rtlCol="0" anchor="t">
            <a:normAutofit/>
          </a:bodyPr>
          <a:lstStyle/>
          <a:p>
            <a:pPr algn="l" indent="0" marL="0">
              <a:lnSpc>
                <a:spcPct val="160000"/>
              </a:lnSpc>
              <a:buNone/>
            </a:pPr>
            <a:r>
              <a:rPr lang="en-US" sz="1088" dirty="0">
                <a:solidFill>
                  <a:srgbClr val="3A4450"/>
                </a:solidFill>
                <a:latin typeface="Helvetica" pitchFamily="34" charset="0"/>
                <a:ea typeface="Helvetica" pitchFamily="34" charset="-122"/>
                <a:cs typeface="Helvetica" pitchFamily="34" charset="-120"/>
              </a:rPr>
              <a:t>Persists which issues were already triaged and when, so an issue is re-triaged only after it changes.</a:t>
            </a:r>
            <a:endParaRPr lang="en-US" sz="1088" dirty="0"/>
          </a:p>
        </p:txBody>
      </p:sp>
      <p:sp>
        <p:nvSpPr>
          <p:cNvPr id="73" name="Shape 70"/>
          <p:cNvSpPr/>
          <p:nvPr/>
        </p:nvSpPr>
        <p:spPr>
          <a:xfrm>
            <a:off x="692150" y="17051934"/>
            <a:ext cx="7950200" cy="19050"/>
          </a:xfrm>
          <a:prstGeom prst="rect">
            <a:avLst/>
          </a:prstGeom>
          <a:solidFill>
            <a:srgbClr val="ECEEF1"/>
          </a:solidFill>
          <a:ln/>
        </p:spPr>
      </p:sp>
      <p:sp>
        <p:nvSpPr>
          <p:cNvPr id="74" name="Text 71"/>
          <p:cNvSpPr/>
          <p:nvPr/>
        </p:nvSpPr>
        <p:spPr>
          <a:xfrm>
            <a:off x="692150" y="16734434"/>
            <a:ext cx="8188706" cy="279400"/>
          </a:xfrm>
          <a:prstGeom prst="rect">
            <a:avLst/>
          </a:prstGeom>
          <a:noFill/>
          <a:ln/>
        </p:spPr>
        <p:txBody>
          <a:bodyPr wrap="square" lIns="25400" tIns="25400" rIns="25400" bIns="25400" rtlCol="0" anchor="t">
            <a:normAutofit/>
          </a:bodyPr>
          <a:lstStyle/>
          <a:p>
            <a:pPr algn="l" indent="0" marL="0">
              <a:buNone/>
            </a:pPr>
            <a:r>
              <a:rPr lang="en-US" sz="1650" b="1" dirty="0">
                <a:solidFill>
                  <a:srgbClr val="22272E"/>
                </a:solidFill>
                <a:latin typeface="Helvetica" pitchFamily="34" charset="0"/>
                <a:ea typeface="Helvetica" pitchFamily="34" charset="-122"/>
                <a:cs typeface="Helvetica" pitchFamily="34" charset="-120"/>
              </a:rPr>
              <a:t>External systems &amp; data files</a:t>
            </a:r>
            <a:endParaRPr lang="en-US" sz="1650" dirty="0"/>
          </a:p>
        </p:txBody>
      </p:sp>
      <p:sp>
        <p:nvSpPr>
          <p:cNvPr id="75" name="Shape 72"/>
          <p:cNvSpPr/>
          <p:nvPr/>
        </p:nvSpPr>
        <p:spPr>
          <a:xfrm>
            <a:off x="692150" y="17932003"/>
            <a:ext cx="7950200" cy="9525"/>
          </a:xfrm>
          <a:prstGeom prst="rect">
            <a:avLst/>
          </a:prstGeom>
          <a:solidFill>
            <a:srgbClr val="ECEEF1"/>
          </a:solidFill>
          <a:ln/>
        </p:spPr>
      </p:sp>
      <p:sp>
        <p:nvSpPr>
          <p:cNvPr id="76" name="Text 73"/>
          <p:cNvSpPr/>
          <p:nvPr/>
        </p:nvSpPr>
        <p:spPr>
          <a:xfrm>
            <a:off x="692150" y="17356733"/>
            <a:ext cx="2305050" cy="190500"/>
          </a:xfrm>
          <a:prstGeom prst="rect">
            <a:avLst/>
          </a:prstGeom>
          <a:noFill/>
          <a:ln/>
        </p:spPr>
        <p:txBody>
          <a:bodyPr wrap="square" lIns="25400" tIns="25400" rIns="25400" bIns="25400" rtlCol="0" anchor="t">
            <a:normAutofit/>
          </a:bodyPr>
          <a:lstStyle/>
          <a:p>
            <a:pPr algn="l" indent="0" marL="0">
              <a:buNone/>
            </a:pPr>
            <a:r>
              <a:rPr lang="en-US" sz="1050" b="1" dirty="0">
                <a:solidFill>
                  <a:srgbClr val="22272E"/>
                </a:solidFill>
                <a:latin typeface="Courier New" pitchFamily="34" charset="0"/>
                <a:ea typeface="Courier New" pitchFamily="34" charset="-122"/>
                <a:cs typeface="Courier New" pitchFamily="34" charset="-120"/>
              </a:rPr>
              <a:t>Jira Cloud</a:t>
            </a:r>
            <a:endParaRPr lang="en-US" sz="1050" dirty="0"/>
          </a:p>
        </p:txBody>
      </p:sp>
      <p:sp>
        <p:nvSpPr>
          <p:cNvPr id="77" name="Text 74"/>
          <p:cNvSpPr/>
          <p:nvPr/>
        </p:nvSpPr>
        <p:spPr>
          <a:xfrm>
            <a:off x="692150" y="17537708"/>
            <a:ext cx="2305050" cy="171450"/>
          </a:xfrm>
          <a:prstGeom prst="rect">
            <a:avLst/>
          </a:prstGeom>
          <a:noFill/>
          <a:ln/>
        </p:spPr>
        <p:txBody>
          <a:bodyPr wrap="square" lIns="25400" tIns="25400" rIns="25400" bIns="25400" rtlCol="0" anchor="t">
            <a:normAutofit/>
          </a:bodyPr>
          <a:lstStyle/>
          <a:p>
            <a:pPr algn="l" indent="0" marL="0">
              <a:buNone/>
            </a:pPr>
            <a:r>
              <a:rPr lang="en-US" sz="900" dirty="0">
                <a:solidFill>
                  <a:srgbClr val="7A8592"/>
                </a:solidFill>
                <a:latin typeface="Helvetica" pitchFamily="34" charset="0"/>
                <a:ea typeface="Helvetica" pitchFamily="34" charset="-122"/>
                <a:cs typeface="Helvetica" pitchFamily="34" charset="-120"/>
              </a:rPr>
              <a:t>External system</a:t>
            </a:r>
            <a:endParaRPr lang="en-US" sz="900" dirty="0"/>
          </a:p>
        </p:txBody>
      </p:sp>
      <p:sp>
        <p:nvSpPr>
          <p:cNvPr id="78" name="Text 75"/>
          <p:cNvSpPr/>
          <p:nvPr/>
        </p:nvSpPr>
        <p:spPr>
          <a:xfrm>
            <a:off x="2978150" y="17356733"/>
            <a:ext cx="5834126" cy="480020"/>
          </a:xfrm>
          <a:prstGeom prst="rect">
            <a:avLst/>
          </a:prstGeom>
          <a:noFill/>
          <a:ln/>
        </p:spPr>
        <p:txBody>
          <a:bodyPr wrap="square" lIns="25400" tIns="25400" rIns="25400" bIns="25400" rtlCol="0" anchor="t">
            <a:normAutofit/>
          </a:bodyPr>
          <a:lstStyle/>
          <a:p>
            <a:pPr algn="l" indent="0" marL="0">
              <a:lnSpc>
                <a:spcPct val="160000"/>
              </a:lnSpc>
              <a:buNone/>
            </a:pPr>
            <a:r>
              <a:rPr lang="en-US" sz="1088" dirty="0">
                <a:solidFill>
                  <a:srgbClr val="3A4450"/>
                </a:solidFill>
                <a:latin typeface="Helvetica" pitchFamily="34" charset="0"/>
                <a:ea typeface="Helvetica" pitchFamily="34" charset="-122"/>
                <a:cs typeface="Helvetica" pitchFamily="34" charset="-120"/>
              </a:rPr>
              <a:t>Source of defects (issues, comments, attachments) and destination for triage output (comment, labels, duplicate link), via REST API v3.</a:t>
            </a:r>
            <a:endParaRPr lang="en-US" sz="1088" dirty="0"/>
          </a:p>
        </p:txBody>
      </p:sp>
      <p:sp>
        <p:nvSpPr>
          <p:cNvPr id="79" name="Shape 76"/>
          <p:cNvSpPr/>
          <p:nvPr/>
        </p:nvSpPr>
        <p:spPr>
          <a:xfrm>
            <a:off x="692150" y="18646973"/>
            <a:ext cx="7950200" cy="9525"/>
          </a:xfrm>
          <a:prstGeom prst="rect">
            <a:avLst/>
          </a:prstGeom>
          <a:solidFill>
            <a:srgbClr val="ECEEF1"/>
          </a:solidFill>
          <a:ln/>
        </p:spPr>
      </p:sp>
      <p:sp>
        <p:nvSpPr>
          <p:cNvPr id="80" name="Text 77"/>
          <p:cNvSpPr/>
          <p:nvPr/>
        </p:nvSpPr>
        <p:spPr>
          <a:xfrm>
            <a:off x="692150" y="18071703"/>
            <a:ext cx="2305050" cy="190500"/>
          </a:xfrm>
          <a:prstGeom prst="rect">
            <a:avLst/>
          </a:prstGeom>
          <a:noFill/>
          <a:ln/>
        </p:spPr>
        <p:txBody>
          <a:bodyPr wrap="square" lIns="25400" tIns="25400" rIns="25400" bIns="25400" rtlCol="0" anchor="t">
            <a:normAutofit/>
          </a:bodyPr>
          <a:lstStyle/>
          <a:p>
            <a:pPr algn="l" indent="0" marL="0">
              <a:buNone/>
            </a:pPr>
            <a:r>
              <a:rPr lang="en-US" sz="1050" b="1" dirty="0">
                <a:solidFill>
                  <a:srgbClr val="22272E"/>
                </a:solidFill>
                <a:latin typeface="Courier New" pitchFamily="34" charset="0"/>
                <a:ea typeface="Courier New" pitchFamily="34" charset="-122"/>
                <a:cs typeface="Courier New" pitchFamily="34" charset="-120"/>
              </a:rPr>
              <a:t>OpenAI API</a:t>
            </a:r>
            <a:endParaRPr lang="en-US" sz="1050" dirty="0"/>
          </a:p>
        </p:txBody>
      </p:sp>
      <p:sp>
        <p:nvSpPr>
          <p:cNvPr id="81" name="Text 78"/>
          <p:cNvSpPr/>
          <p:nvPr/>
        </p:nvSpPr>
        <p:spPr>
          <a:xfrm>
            <a:off x="692150" y="18252678"/>
            <a:ext cx="2305050" cy="171450"/>
          </a:xfrm>
          <a:prstGeom prst="rect">
            <a:avLst/>
          </a:prstGeom>
          <a:noFill/>
          <a:ln/>
        </p:spPr>
        <p:txBody>
          <a:bodyPr wrap="square" lIns="25400" tIns="25400" rIns="25400" bIns="25400" rtlCol="0" anchor="t">
            <a:normAutofit/>
          </a:bodyPr>
          <a:lstStyle/>
          <a:p>
            <a:pPr algn="l" indent="0" marL="0">
              <a:buNone/>
            </a:pPr>
            <a:r>
              <a:rPr lang="en-US" sz="900" dirty="0">
                <a:solidFill>
                  <a:srgbClr val="7A8592"/>
                </a:solidFill>
                <a:latin typeface="Helvetica" pitchFamily="34" charset="0"/>
                <a:ea typeface="Helvetica" pitchFamily="34" charset="-122"/>
                <a:cs typeface="Helvetica" pitchFamily="34" charset="-120"/>
              </a:rPr>
              <a:t>External system</a:t>
            </a:r>
            <a:endParaRPr lang="en-US" sz="900" dirty="0"/>
          </a:p>
        </p:txBody>
      </p:sp>
      <p:sp>
        <p:nvSpPr>
          <p:cNvPr id="82" name="Text 79"/>
          <p:cNvSpPr/>
          <p:nvPr/>
        </p:nvSpPr>
        <p:spPr>
          <a:xfrm>
            <a:off x="2978150" y="18071703"/>
            <a:ext cx="5834126" cy="480020"/>
          </a:xfrm>
          <a:prstGeom prst="rect">
            <a:avLst/>
          </a:prstGeom>
          <a:noFill/>
          <a:ln/>
        </p:spPr>
        <p:txBody>
          <a:bodyPr wrap="square" lIns="25400" tIns="25400" rIns="25400" bIns="25400" rtlCol="0" anchor="t">
            <a:normAutofit/>
          </a:bodyPr>
          <a:lstStyle/>
          <a:p>
            <a:pPr algn="l" indent="0" marL="0">
              <a:lnSpc>
                <a:spcPct val="160000"/>
              </a:lnSpc>
              <a:buNone/>
            </a:pPr>
            <a:r>
              <a:rPr lang="en-US" sz="1088" dirty="0">
                <a:solidFill>
                  <a:srgbClr val="3A4450"/>
                </a:solidFill>
                <a:latin typeface="Helvetica" pitchFamily="34" charset="0"/>
                <a:ea typeface="Helvetica" pitchFamily="34" charset="-122"/>
                <a:cs typeface="Helvetica" pitchFamily="34" charset="-120"/>
              </a:rPr>
              <a:t>GPT models provide vision (screenshot evidence extraction) and reasoning (duplicate verdicts, root cause, suggested resolution).</a:t>
            </a:r>
            <a:endParaRPr lang="en-US" sz="1088" dirty="0"/>
          </a:p>
        </p:txBody>
      </p:sp>
      <p:sp>
        <p:nvSpPr>
          <p:cNvPr id="83" name="Shape 80"/>
          <p:cNvSpPr/>
          <p:nvPr/>
        </p:nvSpPr>
        <p:spPr>
          <a:xfrm>
            <a:off x="692150" y="19361944"/>
            <a:ext cx="7950200" cy="9525"/>
          </a:xfrm>
          <a:prstGeom prst="rect">
            <a:avLst/>
          </a:prstGeom>
          <a:solidFill>
            <a:srgbClr val="ECEEF1"/>
          </a:solidFill>
          <a:ln/>
        </p:spPr>
      </p:sp>
      <p:sp>
        <p:nvSpPr>
          <p:cNvPr id="84" name="Text 81"/>
          <p:cNvSpPr/>
          <p:nvPr/>
        </p:nvSpPr>
        <p:spPr>
          <a:xfrm>
            <a:off x="692150" y="18786673"/>
            <a:ext cx="2305050" cy="190500"/>
          </a:xfrm>
          <a:prstGeom prst="rect">
            <a:avLst/>
          </a:prstGeom>
          <a:noFill/>
          <a:ln/>
        </p:spPr>
        <p:txBody>
          <a:bodyPr wrap="square" lIns="25400" tIns="25400" rIns="25400" bIns="25400" rtlCol="0" anchor="t">
            <a:normAutofit/>
          </a:bodyPr>
          <a:lstStyle/>
          <a:p>
            <a:pPr algn="l" indent="0" marL="0">
              <a:buNone/>
            </a:pPr>
            <a:r>
              <a:rPr lang="en-US" sz="1050" b="1" dirty="0">
                <a:solidFill>
                  <a:srgbClr val="22272E"/>
                </a:solidFill>
                <a:latin typeface="Courier New" pitchFamily="34" charset="0"/>
                <a:ea typeface="Courier New" pitchFamily="34" charset="-122"/>
                <a:cs typeface="Courier New" pitchFamily="34" charset="-120"/>
              </a:rPr>
              <a:t>config.yaml / .env</a:t>
            </a:r>
            <a:endParaRPr lang="en-US" sz="1050" dirty="0"/>
          </a:p>
        </p:txBody>
      </p:sp>
      <p:sp>
        <p:nvSpPr>
          <p:cNvPr id="85" name="Text 82"/>
          <p:cNvSpPr/>
          <p:nvPr/>
        </p:nvSpPr>
        <p:spPr>
          <a:xfrm>
            <a:off x="692150" y="18967648"/>
            <a:ext cx="2305050" cy="171450"/>
          </a:xfrm>
          <a:prstGeom prst="rect">
            <a:avLst/>
          </a:prstGeom>
          <a:noFill/>
          <a:ln/>
        </p:spPr>
        <p:txBody>
          <a:bodyPr wrap="square" lIns="25400" tIns="25400" rIns="25400" bIns="25400" rtlCol="0" anchor="t">
            <a:normAutofit/>
          </a:bodyPr>
          <a:lstStyle/>
          <a:p>
            <a:pPr algn="l" indent="0" marL="0">
              <a:buNone/>
            </a:pPr>
            <a:r>
              <a:rPr lang="en-US" sz="900" dirty="0">
                <a:solidFill>
                  <a:srgbClr val="7A8592"/>
                </a:solidFill>
                <a:latin typeface="Helvetica" pitchFamily="34" charset="0"/>
                <a:ea typeface="Helvetica" pitchFamily="34" charset="-122"/>
                <a:cs typeface="Helvetica" pitchFamily="34" charset="-120"/>
              </a:rPr>
              <a:t>Configuration</a:t>
            </a:r>
            <a:endParaRPr lang="en-US" sz="900" dirty="0"/>
          </a:p>
        </p:txBody>
      </p:sp>
      <p:sp>
        <p:nvSpPr>
          <p:cNvPr id="86" name="Text 83"/>
          <p:cNvSpPr/>
          <p:nvPr/>
        </p:nvSpPr>
        <p:spPr>
          <a:xfrm>
            <a:off x="2978150" y="18786673"/>
            <a:ext cx="5834126" cy="480020"/>
          </a:xfrm>
          <a:prstGeom prst="rect">
            <a:avLst/>
          </a:prstGeom>
          <a:noFill/>
          <a:ln/>
        </p:spPr>
        <p:txBody>
          <a:bodyPr wrap="square" lIns="25400" tIns="25400" rIns="25400" bIns="25400" rtlCol="0" anchor="t">
            <a:normAutofit/>
          </a:bodyPr>
          <a:lstStyle/>
          <a:p>
            <a:pPr algn="l" indent="0" marL="0">
              <a:lnSpc>
                <a:spcPct val="160000"/>
              </a:lnSpc>
              <a:buNone/>
            </a:pPr>
            <a:r>
              <a:rPr lang="en-US" sz="1088" dirty="0">
                <a:solidFill>
                  <a:srgbClr val="3A4450"/>
                </a:solidFill>
                <a:latin typeface="Helvetica" pitchFamily="34" charset="0"/>
                <a:ea typeface="Helvetica" pitchFamily="34" charset="-122"/>
                <a:cs typeface="Helvetica" pitchFamily="34" charset="-120"/>
              </a:rPr>
              <a:t>config.yaml holds JQL queries, thresholds, and label names; .env holds Jira and OpenAI credentials.</a:t>
            </a:r>
            <a:endParaRPr lang="en-US" sz="1088" dirty="0"/>
          </a:p>
        </p:txBody>
      </p:sp>
      <p:sp>
        <p:nvSpPr>
          <p:cNvPr id="87" name="Shape 84"/>
          <p:cNvSpPr/>
          <p:nvPr/>
        </p:nvSpPr>
        <p:spPr>
          <a:xfrm>
            <a:off x="692150" y="19949319"/>
            <a:ext cx="7950200" cy="9525"/>
          </a:xfrm>
          <a:prstGeom prst="rect">
            <a:avLst/>
          </a:prstGeom>
          <a:solidFill>
            <a:srgbClr val="ECEEF1"/>
          </a:solidFill>
          <a:ln/>
        </p:spPr>
      </p:sp>
      <p:sp>
        <p:nvSpPr>
          <p:cNvPr id="88" name="Text 85"/>
          <p:cNvSpPr/>
          <p:nvPr/>
        </p:nvSpPr>
        <p:spPr>
          <a:xfrm>
            <a:off x="692150" y="19501644"/>
            <a:ext cx="2305050" cy="190500"/>
          </a:xfrm>
          <a:prstGeom prst="rect">
            <a:avLst/>
          </a:prstGeom>
          <a:noFill/>
          <a:ln/>
        </p:spPr>
        <p:txBody>
          <a:bodyPr wrap="square" lIns="25400" tIns="25400" rIns="25400" bIns="25400" rtlCol="0" anchor="t">
            <a:normAutofit/>
          </a:bodyPr>
          <a:lstStyle/>
          <a:p>
            <a:pPr algn="l" indent="0" marL="0">
              <a:buNone/>
            </a:pPr>
            <a:r>
              <a:rPr lang="en-US" sz="1050" b="1" dirty="0">
                <a:solidFill>
                  <a:srgbClr val="22272E"/>
                </a:solidFill>
                <a:latin typeface="Courier New" pitchFamily="34" charset="0"/>
                <a:ea typeface="Courier New" pitchFamily="34" charset="-122"/>
                <a:cs typeface="Courier New" pitchFamily="34" charset="-120"/>
              </a:rPr>
              <a:t>.triage_state.json</a:t>
            </a:r>
            <a:endParaRPr lang="en-US" sz="1050" dirty="0"/>
          </a:p>
        </p:txBody>
      </p:sp>
      <p:sp>
        <p:nvSpPr>
          <p:cNvPr id="89" name="Text 86"/>
          <p:cNvSpPr/>
          <p:nvPr/>
        </p:nvSpPr>
        <p:spPr>
          <a:xfrm>
            <a:off x="692150" y="19682619"/>
            <a:ext cx="2305050" cy="171450"/>
          </a:xfrm>
          <a:prstGeom prst="rect">
            <a:avLst/>
          </a:prstGeom>
          <a:noFill/>
          <a:ln/>
        </p:spPr>
        <p:txBody>
          <a:bodyPr wrap="square" lIns="25400" tIns="25400" rIns="25400" bIns="25400" rtlCol="0" anchor="t">
            <a:normAutofit/>
          </a:bodyPr>
          <a:lstStyle/>
          <a:p>
            <a:pPr algn="l" indent="0" marL="0">
              <a:buNone/>
            </a:pPr>
            <a:r>
              <a:rPr lang="en-US" sz="900" dirty="0">
                <a:solidFill>
                  <a:srgbClr val="7A8592"/>
                </a:solidFill>
                <a:latin typeface="Helvetica" pitchFamily="34" charset="0"/>
                <a:ea typeface="Helvetica" pitchFamily="34" charset="-122"/>
                <a:cs typeface="Helvetica" pitchFamily="34" charset="-120"/>
              </a:rPr>
              <a:t>Local state</a:t>
            </a:r>
            <a:endParaRPr lang="en-US" sz="900" dirty="0"/>
          </a:p>
        </p:txBody>
      </p:sp>
      <p:sp>
        <p:nvSpPr>
          <p:cNvPr id="90" name="Text 87"/>
          <p:cNvSpPr/>
          <p:nvPr/>
        </p:nvSpPr>
        <p:spPr>
          <a:xfrm>
            <a:off x="2978150" y="19501644"/>
            <a:ext cx="5834126" cy="352425"/>
          </a:xfrm>
          <a:prstGeom prst="rect">
            <a:avLst/>
          </a:prstGeom>
          <a:noFill/>
          <a:ln/>
        </p:spPr>
        <p:txBody>
          <a:bodyPr wrap="square" lIns="25400" tIns="25400" rIns="25400" bIns="25400" rtlCol="0" anchor="t">
            <a:normAutofit/>
          </a:bodyPr>
          <a:lstStyle/>
          <a:p>
            <a:pPr algn="l" indent="0" marL="0">
              <a:lnSpc>
                <a:spcPct val="160000"/>
              </a:lnSpc>
              <a:buNone/>
            </a:pPr>
            <a:r>
              <a:rPr lang="en-US" sz="1088" dirty="0">
                <a:solidFill>
                  <a:srgbClr val="3A4450"/>
                </a:solidFill>
                <a:latin typeface="Helvetica" pitchFamily="34" charset="0"/>
                <a:ea typeface="Helvetica" pitchFamily="34" charset="-122"/>
                <a:cs typeface="Helvetica" pitchFamily="34" charset="-120"/>
              </a:rPr>
              <a:t>Maps issue key → last-seen updated timestamp; the service's only persistent state.</a:t>
            </a:r>
            <a:endParaRPr lang="en-US" sz="1088" dirty="0"/>
          </a:p>
        </p:txBody>
      </p:sp>
      <p:sp>
        <p:nvSpPr>
          <p:cNvPr id="91" name="Shape 88"/>
          <p:cNvSpPr/>
          <p:nvPr/>
        </p:nvSpPr>
        <p:spPr>
          <a:xfrm>
            <a:off x="692150" y="20654170"/>
            <a:ext cx="7950200" cy="19050"/>
          </a:xfrm>
          <a:prstGeom prst="rect">
            <a:avLst/>
          </a:prstGeom>
          <a:solidFill>
            <a:srgbClr val="ECEEF1"/>
          </a:solidFill>
          <a:ln/>
        </p:spPr>
      </p:sp>
      <p:sp>
        <p:nvSpPr>
          <p:cNvPr id="92" name="Text 89"/>
          <p:cNvSpPr/>
          <p:nvPr/>
        </p:nvSpPr>
        <p:spPr>
          <a:xfrm>
            <a:off x="692150" y="20336670"/>
            <a:ext cx="8188706" cy="279400"/>
          </a:xfrm>
          <a:prstGeom prst="rect">
            <a:avLst/>
          </a:prstGeom>
          <a:noFill/>
          <a:ln/>
        </p:spPr>
        <p:txBody>
          <a:bodyPr wrap="square" lIns="25400" tIns="25400" rIns="25400" bIns="25400" rtlCol="0" anchor="t">
            <a:normAutofit/>
          </a:bodyPr>
          <a:lstStyle/>
          <a:p>
            <a:pPr algn="l" indent="0" marL="0">
              <a:buNone/>
            </a:pPr>
            <a:r>
              <a:rPr lang="en-US" sz="1650" b="1" dirty="0">
                <a:solidFill>
                  <a:srgbClr val="22272E"/>
                </a:solidFill>
                <a:latin typeface="Helvetica" pitchFamily="34" charset="0"/>
                <a:ea typeface="Helvetica" pitchFamily="34" charset="-122"/>
                <a:cs typeface="Helvetica" pitchFamily="34" charset="-120"/>
              </a:rPr>
              <a:t>Operational notes</a:t>
            </a:r>
            <a:endParaRPr lang="en-US" sz="1650" dirty="0"/>
          </a:p>
        </p:txBody>
      </p:sp>
      <p:sp>
        <p:nvSpPr>
          <p:cNvPr id="93" name="Text 90"/>
          <p:cNvSpPr/>
          <p:nvPr/>
        </p:nvSpPr>
        <p:spPr>
          <a:xfrm>
            <a:off x="819150" y="20806569"/>
            <a:ext cx="8054848" cy="523875"/>
          </a:xfrm>
          <a:prstGeom prst="rect">
            <a:avLst/>
          </a:prstGeom>
          <a:noFill/>
          <a:ln/>
        </p:spPr>
        <p:txBody>
          <a:bodyPr wrap="square" lIns="25400" tIns="25400" rIns="25400" bIns="25400" rtlCol="0" anchor="t">
            <a:normAutofit/>
          </a:bodyPr>
          <a:lstStyle/>
          <a:p>
            <a:pPr algn="l" marL="101600" indent="-101600">
              <a:lnSpc>
                <a:spcPct val="170000"/>
              </a:lnSpc>
              <a:buSzPct val="100000"/>
              <a:buChar char="•"/>
            </a:pPr>
            <a:r>
              <a:rPr lang="en-US" sz="1125" b="1" dirty="0">
                <a:solidFill>
                  <a:srgbClr val="22272E"/>
                </a:solidFill>
                <a:latin typeface="Helvetica" pitchFamily="34" charset="0"/>
                <a:ea typeface="Helvetica" pitchFamily="34" charset="-122"/>
                <a:cs typeface="Helvetica" pitchFamily="34" charset="-120"/>
              </a:rPr>
              <a:t>Run modes </a:t>
            </a:r>
            <a:pPr algn="l" indent="0" marL="0">
              <a:lnSpc>
                <a:spcPct val="170000"/>
              </a:lnSpc>
              <a:buNone/>
            </a:pPr>
            <a:r>
              <a:rPr lang="en-US" sz="1125" dirty="0">
                <a:solidFill>
                  <a:srgbClr val="22272E"/>
                </a:solidFill>
                <a:latin typeface="Helvetica" pitchFamily="34" charset="0"/>
                <a:ea typeface="Helvetica" pitchFamily="34" charset="-122"/>
                <a:cs typeface="Helvetica" pitchFamily="34" charset="-120"/>
              </a:rPr>
              <a:t>— </a:t>
            </a:r>
            <a:pPr algn="l" indent="0" marL="0">
              <a:lnSpc>
                <a:spcPct val="170000"/>
              </a:lnSpc>
              <a:buNone/>
            </a:pPr>
            <a:r>
              <a:rPr lang="en-US" sz="975" dirty="0">
                <a:solidFill>
                  <a:srgbClr val="22272E"/>
                </a:solidFill>
                <a:latin typeface="Courier New" pitchFamily="34" charset="0"/>
                <a:ea typeface="Courier New" pitchFamily="34" charset="-122"/>
                <a:cs typeface="Courier New" pitchFamily="34" charset="-120"/>
              </a:rPr>
              <a:t>--once </a:t>
            </a:r>
            <a:pPr algn="l" indent="0" marL="0">
              <a:lnSpc>
                <a:spcPct val="170000"/>
              </a:lnSpc>
              <a:buNone/>
            </a:pPr>
            <a:r>
              <a:rPr lang="en-US" sz="1125" dirty="0">
                <a:solidFill>
                  <a:srgbClr val="22272E"/>
                </a:solidFill>
                <a:latin typeface="Helvetica" pitchFamily="34" charset="0"/>
                <a:ea typeface="Helvetica" pitchFamily="34" charset="-122"/>
                <a:cs typeface="Helvetica" pitchFamily="34" charset="-120"/>
              </a:rPr>
              <a:t>(single cycle), continuous polling (default), </a:t>
            </a:r>
            <a:pPr algn="l" indent="0" marL="0">
              <a:lnSpc>
                <a:spcPct val="170000"/>
              </a:lnSpc>
              <a:buNone/>
            </a:pPr>
            <a:r>
              <a:rPr lang="en-US" sz="975" dirty="0">
                <a:solidFill>
                  <a:srgbClr val="22272E"/>
                </a:solidFill>
                <a:latin typeface="Courier New" pitchFamily="34" charset="0"/>
                <a:ea typeface="Courier New" pitchFamily="34" charset="-122"/>
                <a:cs typeface="Courier New" pitchFamily="34" charset="-120"/>
              </a:rPr>
              <a:t>--issues KEY… </a:t>
            </a:r>
            <a:pPr algn="l" indent="0" marL="0">
              <a:lnSpc>
                <a:spcPct val="170000"/>
              </a:lnSpc>
              <a:buNone/>
            </a:pPr>
            <a:r>
              <a:rPr lang="en-US" sz="1125" dirty="0">
                <a:solidFill>
                  <a:srgbClr val="22272E"/>
                </a:solidFill>
                <a:latin typeface="Helvetica" pitchFamily="34" charset="0"/>
                <a:ea typeface="Helvetica" pitchFamily="34" charset="-122"/>
                <a:cs typeface="Helvetica" pitchFamily="34" charset="-120"/>
              </a:rPr>
              <a:t>(specific issues), and </a:t>
            </a:r>
            <a:pPr algn="l" indent="0" marL="0">
              <a:lnSpc>
                <a:spcPct val="170000"/>
              </a:lnSpc>
              <a:buNone/>
            </a:pPr>
            <a:r>
              <a:rPr lang="en-US" sz="975" dirty="0">
                <a:solidFill>
                  <a:srgbClr val="22272E"/>
                </a:solidFill>
                <a:latin typeface="Courier New" pitchFamily="34" charset="0"/>
                <a:ea typeface="Courier New" pitchFamily="34" charset="-122"/>
                <a:cs typeface="Courier New" pitchFamily="34" charset="-120"/>
              </a:rPr>
              <a:t>--dry-run </a:t>
            </a:r>
            <a:pPr algn="l" indent="0" marL="0">
              <a:lnSpc>
                <a:spcPct val="170000"/>
              </a:lnSpc>
              <a:buNone/>
            </a:pPr>
            <a:r>
              <a:rPr lang="en-US" sz="1125" dirty="0">
                <a:solidFill>
                  <a:srgbClr val="22272E"/>
                </a:solidFill>
                <a:latin typeface="Helvetica" pitchFamily="34" charset="0"/>
                <a:ea typeface="Helvetica" pitchFamily="34" charset="-122"/>
                <a:cs typeface="Helvetica" pitchFamily="34" charset="-120"/>
              </a:rPr>
              <a:t>(analyzes but writes nothing to Jira — recommended first run).</a:t>
            </a:r>
            <a:endParaRPr lang="en-US" sz="1125" dirty="0"/>
          </a:p>
        </p:txBody>
      </p:sp>
      <p:sp>
        <p:nvSpPr>
          <p:cNvPr id="94" name="Text 91"/>
          <p:cNvSpPr/>
          <p:nvPr/>
        </p:nvSpPr>
        <p:spPr>
          <a:xfrm>
            <a:off x="819150" y="21349494"/>
            <a:ext cx="8054848" cy="523875"/>
          </a:xfrm>
          <a:prstGeom prst="rect">
            <a:avLst/>
          </a:prstGeom>
          <a:noFill/>
          <a:ln/>
        </p:spPr>
        <p:txBody>
          <a:bodyPr wrap="square" lIns="25400" tIns="25400" rIns="25400" bIns="25400" rtlCol="0" anchor="t">
            <a:normAutofit/>
          </a:bodyPr>
          <a:lstStyle/>
          <a:p>
            <a:pPr algn="l" marL="101600" indent="-101600">
              <a:lnSpc>
                <a:spcPct val="170000"/>
              </a:lnSpc>
              <a:buSzPct val="100000"/>
              <a:buChar char="•"/>
            </a:pPr>
            <a:r>
              <a:rPr lang="en-US" sz="1125" b="1" dirty="0">
                <a:solidFill>
                  <a:srgbClr val="22272E"/>
                </a:solidFill>
                <a:latin typeface="Helvetica" pitchFamily="34" charset="0"/>
                <a:ea typeface="Helvetica" pitchFamily="34" charset="-122"/>
                <a:cs typeface="Helvetica" pitchFamily="34" charset="-120"/>
              </a:rPr>
              <a:t>Idempotency </a:t>
            </a:r>
            <a:pPr algn="l" indent="0" marL="0">
              <a:lnSpc>
                <a:spcPct val="170000"/>
              </a:lnSpc>
              <a:buNone/>
            </a:pPr>
            <a:r>
              <a:rPr lang="en-US" sz="1125" dirty="0">
                <a:solidFill>
                  <a:srgbClr val="22272E"/>
                </a:solidFill>
                <a:latin typeface="Helvetica" pitchFamily="34" charset="0"/>
                <a:ea typeface="Helvetica" pitchFamily="34" charset="-122"/>
                <a:cs typeface="Helvetica" pitchFamily="34" charset="-120"/>
              </a:rPr>
              <a:t>— </a:t>
            </a:r>
            <a:pPr algn="l" indent="0" marL="0">
              <a:lnSpc>
                <a:spcPct val="170000"/>
              </a:lnSpc>
              <a:buNone/>
            </a:pPr>
            <a:r>
              <a:rPr lang="en-US" sz="975" dirty="0">
                <a:solidFill>
                  <a:srgbClr val="22272E"/>
                </a:solidFill>
                <a:latin typeface="Courier New" pitchFamily="34" charset="0"/>
                <a:ea typeface="Courier New" pitchFamily="34" charset="-122"/>
                <a:cs typeface="Courier New" pitchFamily="34" charset="-120"/>
              </a:rPr>
              <a:t>.triage_state.json </a:t>
            </a:r>
            <a:pPr algn="l" indent="0" marL="0">
              <a:lnSpc>
                <a:spcPct val="170000"/>
              </a:lnSpc>
              <a:buNone/>
            </a:pPr>
            <a:r>
              <a:rPr lang="en-US" sz="1125" dirty="0">
                <a:solidFill>
                  <a:srgbClr val="22272E"/>
                </a:solidFill>
                <a:latin typeface="Helvetica" pitchFamily="34" charset="0"/>
                <a:ea typeface="Helvetica" pitchFamily="34" charset="-122"/>
                <a:cs typeface="Helvetica" pitchFamily="34" charset="-120"/>
              </a:rPr>
              <a:t>tracks each issue's last-seen </a:t>
            </a:r>
            <a:pPr algn="l" indent="0" marL="0">
              <a:lnSpc>
                <a:spcPct val="170000"/>
              </a:lnSpc>
              <a:buNone/>
            </a:pPr>
            <a:r>
              <a:rPr lang="en-US" sz="975" dirty="0">
                <a:solidFill>
                  <a:srgbClr val="22272E"/>
                </a:solidFill>
                <a:latin typeface="Courier New" pitchFamily="34" charset="0"/>
                <a:ea typeface="Courier New" pitchFamily="34" charset="-122"/>
                <a:cs typeface="Courier New" pitchFamily="34" charset="-120"/>
              </a:rPr>
              <a:t>updated </a:t>
            </a:r>
            <a:pPr algn="l" indent="0" marL="0">
              <a:lnSpc>
                <a:spcPct val="170000"/>
              </a:lnSpc>
              <a:buNone/>
            </a:pPr>
            <a:r>
              <a:rPr lang="en-US" sz="1125" dirty="0">
                <a:solidFill>
                  <a:srgbClr val="22272E"/>
                </a:solidFill>
                <a:latin typeface="Helvetica" pitchFamily="34" charset="0"/>
                <a:ea typeface="Helvetica" pitchFamily="34" charset="-122"/>
                <a:cs typeface="Helvetica" pitchFamily="34" charset="-120"/>
              </a:rPr>
              <a:t>timestamp, and the </a:t>
            </a:r>
            <a:pPr algn="l" indent="0" marL="0">
              <a:lnSpc>
                <a:spcPct val="170000"/>
              </a:lnSpc>
              <a:buNone/>
            </a:pPr>
            <a:r>
              <a:rPr lang="en-US" sz="975" dirty="0">
                <a:solidFill>
                  <a:srgbClr val="22272E"/>
                </a:solidFill>
                <a:latin typeface="Courier New" pitchFamily="34" charset="0"/>
                <a:ea typeface="Courier New" pitchFamily="34" charset="-122"/>
                <a:cs typeface="Courier New" pitchFamily="34" charset="-120"/>
              </a:rPr>
              <a:t>auto-triaged </a:t>
            </a:r>
            <a:pPr algn="l" indent="0" marL="0">
              <a:lnSpc>
                <a:spcPct val="170000"/>
              </a:lnSpc>
              <a:buNone/>
            </a:pPr>
            <a:r>
              <a:rPr lang="en-US" sz="1125" dirty="0">
                <a:solidFill>
                  <a:srgbClr val="22272E"/>
                </a:solidFill>
                <a:latin typeface="Helvetica" pitchFamily="34" charset="0"/>
                <a:ea typeface="Helvetica" pitchFamily="34" charset="-122"/>
                <a:cs typeface="Helvetica" pitchFamily="34" charset="-120"/>
              </a:rPr>
              <a:t>label keeps processed issues out of the queue.</a:t>
            </a:r>
            <a:endParaRPr lang="en-US" sz="1125" dirty="0"/>
          </a:p>
        </p:txBody>
      </p:sp>
      <p:sp>
        <p:nvSpPr>
          <p:cNvPr id="95" name="Text 92"/>
          <p:cNvSpPr/>
          <p:nvPr/>
        </p:nvSpPr>
        <p:spPr>
          <a:xfrm>
            <a:off x="819150" y="21892419"/>
            <a:ext cx="8054848" cy="280988"/>
          </a:xfrm>
          <a:prstGeom prst="rect">
            <a:avLst/>
          </a:prstGeom>
          <a:noFill/>
          <a:ln/>
        </p:spPr>
        <p:txBody>
          <a:bodyPr wrap="square" lIns="25400" tIns="25400" rIns="25400" bIns="25400" rtlCol="0" anchor="t">
            <a:normAutofit/>
          </a:bodyPr>
          <a:lstStyle/>
          <a:p>
            <a:pPr algn="l" marL="101600" indent="-101600">
              <a:lnSpc>
                <a:spcPct val="170000"/>
              </a:lnSpc>
              <a:buSzPct val="100000"/>
              <a:buChar char="•"/>
            </a:pPr>
            <a:r>
              <a:rPr lang="en-US" sz="1125" b="1" dirty="0">
                <a:solidFill>
                  <a:srgbClr val="22272E"/>
                </a:solidFill>
                <a:latin typeface="Helvetica" pitchFamily="34" charset="0"/>
                <a:ea typeface="Helvetica" pitchFamily="34" charset="-122"/>
                <a:cs typeface="Helvetica" pitchFamily="34" charset="-120"/>
              </a:rPr>
              <a:t>Configuration </a:t>
            </a:r>
            <a:pPr algn="l" indent="0" marL="0">
              <a:lnSpc>
                <a:spcPct val="170000"/>
              </a:lnSpc>
              <a:buNone/>
            </a:pPr>
            <a:r>
              <a:rPr lang="en-US" sz="1125" dirty="0">
                <a:solidFill>
                  <a:srgbClr val="22272E"/>
                </a:solidFill>
                <a:latin typeface="Helvetica" pitchFamily="34" charset="0"/>
                <a:ea typeface="Helvetica" pitchFamily="34" charset="-122"/>
                <a:cs typeface="Helvetica" pitchFamily="34" charset="-120"/>
              </a:rPr>
              <a:t>— project key, JQL queries, thresholds, and labels live in </a:t>
            </a:r>
            <a:pPr algn="l" indent="0" marL="0">
              <a:lnSpc>
                <a:spcPct val="170000"/>
              </a:lnSpc>
              <a:buNone/>
            </a:pPr>
            <a:r>
              <a:rPr lang="en-US" sz="975" dirty="0">
                <a:solidFill>
                  <a:srgbClr val="22272E"/>
                </a:solidFill>
                <a:latin typeface="Courier New" pitchFamily="34" charset="0"/>
                <a:ea typeface="Courier New" pitchFamily="34" charset="-122"/>
                <a:cs typeface="Courier New" pitchFamily="34" charset="-120"/>
              </a:rPr>
              <a:t>config.yaml</a:t>
            </a:r>
            <a:pPr algn="l" indent="0" marL="0">
              <a:lnSpc>
                <a:spcPct val="170000"/>
              </a:lnSpc>
              <a:buNone/>
            </a:pPr>
            <a:r>
              <a:rPr lang="en-US" sz="1125" dirty="0">
                <a:solidFill>
                  <a:srgbClr val="22272E"/>
                </a:solidFill>
                <a:latin typeface="Helvetica" pitchFamily="34" charset="0"/>
                <a:ea typeface="Helvetica" pitchFamily="34" charset="-122"/>
                <a:cs typeface="Helvetica" pitchFamily="34" charset="-120"/>
              </a:rPr>
              <a:t>; Jira and OpenAI credentials in </a:t>
            </a:r>
            <a:pPr algn="l" indent="0" marL="0">
              <a:lnSpc>
                <a:spcPct val="170000"/>
              </a:lnSpc>
              <a:buNone/>
            </a:pPr>
            <a:r>
              <a:rPr lang="en-US" sz="975" dirty="0">
                <a:solidFill>
                  <a:srgbClr val="22272E"/>
                </a:solidFill>
                <a:latin typeface="Courier New" pitchFamily="34" charset="0"/>
                <a:ea typeface="Courier New" pitchFamily="34" charset="-122"/>
                <a:cs typeface="Courier New" pitchFamily="34" charset="-120"/>
              </a:rPr>
              <a:t>.env</a:t>
            </a:r>
            <a:pPr algn="l" indent="0" marL="0">
              <a:lnSpc>
                <a:spcPct val="170000"/>
              </a:lnSpc>
              <a:buNone/>
            </a:pPr>
            <a:r>
              <a:rPr lang="en-US" sz="1125" dirty="0">
                <a:solidFill>
                  <a:srgbClr val="22272E"/>
                </a:solidFill>
                <a:latin typeface="Helvetica" pitchFamily="34" charset="0"/>
                <a:ea typeface="Helvetica" pitchFamily="34" charset="-122"/>
                <a:cs typeface="Helvetica" pitchFamily="34" charset="-120"/>
              </a:rPr>
              <a:t>.</a:t>
            </a:r>
            <a:endParaRPr lang="en-US" sz="11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2026-07-05T16:17:17Z</dcterms:created>
  <dcterms:modified xsi:type="dcterms:W3CDTF">2026-07-05T16:17:17Z</dcterms:modified>
</cp:coreProperties>
</file>